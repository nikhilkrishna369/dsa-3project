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Lst>
  <p:sldSz cx="18288000" cy="10287000"/>
  <p:notesSz cx="6858000" cy="9144000"/>
  <p:embeddedFontLst>
    <p:embeddedFont>
      <p:font typeface="Arimo" panose="020B0604020202020204" charset="0"/>
      <p:regular r:id="rId13"/>
    </p:embeddedFont>
    <p:embeddedFont>
      <p:font typeface="Arimo Bold" panose="020B0604020202020204" charset="0"/>
      <p:regular r:id="rId14"/>
    </p:embeddedFont>
    <p:embeddedFont>
      <p:font typeface="Arimo Italics" panose="020B0604020202020204" charset="0"/>
      <p:regular r:id="rId15"/>
    </p:embeddedFont>
    <p:embeddedFont>
      <p:font typeface="Calibri (MS)" panose="020B0604020202020204" charset="0"/>
      <p:regular r:id="rId16"/>
    </p:embeddedFont>
    <p:embeddedFont>
      <p:font typeface="Calibri (MS) Bold" panose="020B0604020202020204" charset="0"/>
      <p:regular r:id="rId17"/>
    </p:embeddedFont>
    <p:embeddedFont>
      <p:font typeface="Canva Sans"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1" d="100"/>
          <a:sy n="61" d="100"/>
        </p:scale>
        <p:origin x="32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E5D6"/>
        </a:solidFill>
        <a:effectLst/>
      </p:bgPr>
    </p:bg>
    <p:spTree>
      <p:nvGrpSpPr>
        <p:cNvPr id="1" name=""/>
        <p:cNvGrpSpPr/>
        <p:nvPr/>
      </p:nvGrpSpPr>
      <p:grpSpPr>
        <a:xfrm>
          <a:off x="0" y="0"/>
          <a:ext cx="0" cy="0"/>
          <a:chOff x="0" y="0"/>
          <a:chExt cx="0" cy="0"/>
        </a:xfrm>
      </p:grpSpPr>
      <p:grpSp>
        <p:nvGrpSpPr>
          <p:cNvPr id="2" name="Group 2"/>
          <p:cNvGrpSpPr/>
          <p:nvPr/>
        </p:nvGrpSpPr>
        <p:grpSpPr>
          <a:xfrm>
            <a:off x="0" y="66675"/>
            <a:ext cx="3152775" cy="1350169"/>
            <a:chOff x="0" y="0"/>
            <a:chExt cx="4203700" cy="1800225"/>
          </a:xfrm>
        </p:grpSpPr>
        <p:sp>
          <p:nvSpPr>
            <p:cNvPr id="3" name="Freeform 3" descr="KL University Hyderabad"/>
            <p:cNvSpPr/>
            <p:nvPr/>
          </p:nvSpPr>
          <p:spPr>
            <a:xfrm>
              <a:off x="0" y="0"/>
              <a:ext cx="4203700" cy="1800225"/>
            </a:xfrm>
            <a:custGeom>
              <a:avLst/>
              <a:gdLst/>
              <a:ahLst/>
              <a:cxnLst/>
              <a:rect l="l" t="t" r="r" b="b"/>
              <a:pathLst>
                <a:path w="4203700" h="1800225">
                  <a:moveTo>
                    <a:pt x="0" y="0"/>
                  </a:moveTo>
                  <a:lnTo>
                    <a:pt x="4203700" y="0"/>
                  </a:lnTo>
                  <a:lnTo>
                    <a:pt x="4203700" y="1800225"/>
                  </a:lnTo>
                  <a:lnTo>
                    <a:pt x="0" y="1800225"/>
                  </a:lnTo>
                  <a:lnTo>
                    <a:pt x="0" y="0"/>
                  </a:lnTo>
                  <a:close/>
                </a:path>
              </a:pathLst>
            </a:custGeom>
            <a:blipFill>
              <a:blip r:embed="rId2"/>
              <a:stretch>
                <a:fillRect b="-75"/>
              </a:stretch>
            </a:blipFill>
          </p:spPr>
        </p:sp>
      </p:grpSp>
      <p:grpSp>
        <p:nvGrpSpPr>
          <p:cNvPr id="4" name="Group 4"/>
          <p:cNvGrpSpPr/>
          <p:nvPr/>
        </p:nvGrpSpPr>
        <p:grpSpPr>
          <a:xfrm>
            <a:off x="0" y="10217944"/>
            <a:ext cx="18288000" cy="69056"/>
            <a:chOff x="0" y="0"/>
            <a:chExt cx="24384000" cy="92075"/>
          </a:xfrm>
        </p:grpSpPr>
        <p:sp>
          <p:nvSpPr>
            <p:cNvPr id="5" name="Freeform 5"/>
            <p:cNvSpPr/>
            <p:nvPr/>
          </p:nvSpPr>
          <p:spPr>
            <a:xfrm>
              <a:off x="0" y="0"/>
              <a:ext cx="24384000" cy="92075"/>
            </a:xfrm>
            <a:custGeom>
              <a:avLst/>
              <a:gdLst/>
              <a:ahLst/>
              <a:cxnLst/>
              <a:rect l="l" t="t" r="r" b="b"/>
              <a:pathLst>
                <a:path w="24384000" h="92075">
                  <a:moveTo>
                    <a:pt x="0" y="0"/>
                  </a:moveTo>
                  <a:lnTo>
                    <a:pt x="24384000" y="0"/>
                  </a:lnTo>
                  <a:lnTo>
                    <a:pt x="24384000" y="92075"/>
                  </a:lnTo>
                  <a:lnTo>
                    <a:pt x="0" y="92075"/>
                  </a:lnTo>
                  <a:close/>
                </a:path>
              </a:pathLst>
            </a:custGeom>
            <a:solidFill>
              <a:srgbClr val="BA2532"/>
            </a:solidFill>
          </p:spPr>
        </p:sp>
      </p:grpSp>
      <p:grpSp>
        <p:nvGrpSpPr>
          <p:cNvPr id="6" name="Group 6"/>
          <p:cNvGrpSpPr/>
          <p:nvPr/>
        </p:nvGrpSpPr>
        <p:grpSpPr>
          <a:xfrm>
            <a:off x="0" y="0"/>
            <a:ext cx="18288000" cy="69056"/>
            <a:chOff x="0" y="0"/>
            <a:chExt cx="24384000" cy="92075"/>
          </a:xfrm>
        </p:grpSpPr>
        <p:sp>
          <p:nvSpPr>
            <p:cNvPr id="7" name="Freeform 7"/>
            <p:cNvSpPr/>
            <p:nvPr/>
          </p:nvSpPr>
          <p:spPr>
            <a:xfrm>
              <a:off x="0" y="0"/>
              <a:ext cx="24384000" cy="92075"/>
            </a:xfrm>
            <a:custGeom>
              <a:avLst/>
              <a:gdLst/>
              <a:ahLst/>
              <a:cxnLst/>
              <a:rect l="l" t="t" r="r" b="b"/>
              <a:pathLst>
                <a:path w="24384000" h="92075">
                  <a:moveTo>
                    <a:pt x="0" y="0"/>
                  </a:moveTo>
                  <a:lnTo>
                    <a:pt x="24384000" y="0"/>
                  </a:lnTo>
                  <a:lnTo>
                    <a:pt x="24384000" y="92075"/>
                  </a:lnTo>
                  <a:lnTo>
                    <a:pt x="0" y="92075"/>
                  </a:lnTo>
                  <a:close/>
                </a:path>
              </a:pathLst>
            </a:custGeom>
            <a:solidFill>
              <a:srgbClr val="BA2532"/>
            </a:solidFill>
          </p:spPr>
        </p:sp>
      </p:grpSp>
      <p:grpSp>
        <p:nvGrpSpPr>
          <p:cNvPr id="10" name="Group 10"/>
          <p:cNvGrpSpPr/>
          <p:nvPr/>
        </p:nvGrpSpPr>
        <p:grpSpPr>
          <a:xfrm>
            <a:off x="2792911" y="1541659"/>
            <a:ext cx="13716000" cy="3475053"/>
            <a:chOff x="0" y="0"/>
            <a:chExt cx="18288000" cy="4633404"/>
          </a:xfrm>
        </p:grpSpPr>
        <p:sp>
          <p:nvSpPr>
            <p:cNvPr id="11" name="Freeform 11"/>
            <p:cNvSpPr/>
            <p:nvPr/>
          </p:nvSpPr>
          <p:spPr>
            <a:xfrm>
              <a:off x="0" y="0"/>
              <a:ext cx="18288000" cy="4633404"/>
            </a:xfrm>
            <a:custGeom>
              <a:avLst/>
              <a:gdLst/>
              <a:ahLst/>
              <a:cxnLst/>
              <a:rect l="l" t="t" r="r" b="b"/>
              <a:pathLst>
                <a:path w="18288000" h="4633404">
                  <a:moveTo>
                    <a:pt x="0" y="0"/>
                  </a:moveTo>
                  <a:lnTo>
                    <a:pt x="18288000" y="0"/>
                  </a:lnTo>
                  <a:lnTo>
                    <a:pt x="18288000" y="4633404"/>
                  </a:lnTo>
                  <a:lnTo>
                    <a:pt x="0" y="4633404"/>
                  </a:lnTo>
                  <a:close/>
                </a:path>
              </a:pathLst>
            </a:custGeom>
            <a:blipFill>
              <a:blip r:embed="rId3">
                <a:alphaModFix amt="0"/>
              </a:blip>
              <a:stretch>
                <a:fillRect t="-26907" b="-26907"/>
              </a:stretch>
            </a:blipFill>
          </p:spPr>
        </p:sp>
        <p:sp>
          <p:nvSpPr>
            <p:cNvPr id="12" name="TextBox 12"/>
            <p:cNvSpPr txBox="1"/>
            <p:nvPr/>
          </p:nvSpPr>
          <p:spPr>
            <a:xfrm>
              <a:off x="0" y="-85725"/>
              <a:ext cx="18288000" cy="4719129"/>
            </a:xfrm>
            <a:prstGeom prst="rect">
              <a:avLst/>
            </a:prstGeom>
          </p:spPr>
          <p:txBody>
            <a:bodyPr lIns="0" tIns="0" rIns="0" bIns="0" rtlCol="0" anchor="b"/>
            <a:lstStyle/>
            <a:p>
              <a:pPr algn="ctr">
                <a:lnSpc>
                  <a:spcPts val="9720"/>
                </a:lnSpc>
              </a:pPr>
              <a:endParaRPr dirty="0"/>
            </a:p>
            <a:p>
              <a:pPr algn="ctr">
                <a:lnSpc>
                  <a:spcPts val="9720"/>
                </a:lnSpc>
              </a:pPr>
              <a:endParaRPr dirty="0"/>
            </a:p>
            <a:p>
              <a:pPr algn="ctr">
                <a:lnSpc>
                  <a:spcPts val="9720"/>
                </a:lnSpc>
              </a:pPr>
              <a:endParaRPr dirty="0"/>
            </a:p>
            <a:p>
              <a:pPr algn="ctr">
                <a:lnSpc>
                  <a:spcPts val="9720"/>
                </a:lnSpc>
              </a:pPr>
              <a:endParaRPr dirty="0"/>
            </a:p>
            <a:p>
              <a:pPr algn="ctr">
                <a:lnSpc>
                  <a:spcPts val="9720"/>
                </a:lnSpc>
              </a:pPr>
              <a:endParaRPr dirty="0"/>
            </a:p>
            <a:p>
              <a:pPr algn="ctr">
                <a:lnSpc>
                  <a:spcPts val="9720"/>
                </a:lnSpc>
              </a:pPr>
              <a:endParaRPr dirty="0"/>
            </a:p>
            <a:p>
              <a:pPr algn="ctr">
                <a:lnSpc>
                  <a:spcPts val="6480"/>
                </a:lnSpc>
              </a:pPr>
              <a:endParaRPr dirty="0"/>
            </a:p>
            <a:p>
              <a:pPr algn="ctr">
                <a:lnSpc>
                  <a:spcPts val="6480"/>
                </a:lnSpc>
              </a:pPr>
              <a:r>
                <a:rPr lang="en-US" sz="6000" b="1" dirty="0">
                  <a:solidFill>
                    <a:srgbClr val="C00000"/>
                  </a:solidFill>
                  <a:latin typeface="Calibri (MS) Bold"/>
                  <a:ea typeface="Calibri (MS) Bold"/>
                  <a:cs typeface="Calibri (MS) Bold"/>
                  <a:sym typeface="Calibri (MS) Bold"/>
                </a:rPr>
                <a:t>Data Structures and Algorithms -3 (25CS2103E)</a:t>
              </a:r>
            </a:p>
            <a:p>
              <a:pPr algn="ctr">
                <a:lnSpc>
                  <a:spcPts val="6480"/>
                </a:lnSpc>
              </a:pPr>
              <a:endParaRPr lang="en-US" sz="6000" b="1" dirty="0">
                <a:solidFill>
                  <a:srgbClr val="C00000"/>
                </a:solidFill>
                <a:latin typeface="Calibri (MS) Bold"/>
                <a:ea typeface="Calibri (MS) Bold"/>
                <a:cs typeface="Calibri (MS) Bold"/>
                <a:sym typeface="Calibri (MS) Bold"/>
              </a:endParaRPr>
            </a:p>
            <a:p>
              <a:pPr algn="ctr">
                <a:lnSpc>
                  <a:spcPts val="6480"/>
                </a:lnSpc>
              </a:pPr>
              <a:r>
                <a:rPr lang="en-US" sz="6000" b="1" dirty="0">
                  <a:solidFill>
                    <a:srgbClr val="C00000"/>
                  </a:solidFill>
                  <a:latin typeface="Calibri (MS) Bold"/>
                  <a:ea typeface="Calibri (MS) Bold"/>
                  <a:cs typeface="Calibri (MS) Bold"/>
                  <a:sym typeface="Calibri (MS) Bold"/>
                </a:rPr>
                <a:t>News &amp; Social Media Analytics Engine</a:t>
              </a:r>
            </a:p>
          </p:txBody>
        </p:sp>
      </p:grpSp>
      <p:sp>
        <p:nvSpPr>
          <p:cNvPr id="13" name="TextBox 13"/>
          <p:cNvSpPr txBox="1"/>
          <p:nvPr/>
        </p:nvSpPr>
        <p:spPr>
          <a:xfrm>
            <a:off x="5005103" y="4997663"/>
            <a:ext cx="8277793" cy="4486656"/>
          </a:xfrm>
          <a:prstGeom prst="rect">
            <a:avLst/>
          </a:prstGeom>
        </p:spPr>
        <p:txBody>
          <a:bodyPr lIns="0" tIns="0" rIns="0" bIns="0" rtlCol="0" anchor="t">
            <a:spAutoFit/>
          </a:bodyPr>
          <a:lstStyle/>
          <a:p>
            <a:pPr algn="ctr">
              <a:lnSpc>
                <a:spcPts val="3888"/>
              </a:lnSpc>
            </a:pPr>
            <a:r>
              <a:rPr lang="en-US" sz="3600">
                <a:solidFill>
                  <a:srgbClr val="0070C0"/>
                </a:solidFill>
                <a:latin typeface="Calibri (MS)"/>
                <a:ea typeface="Calibri (MS)"/>
                <a:cs typeface="Calibri (MS)"/>
                <a:sym typeface="Calibri (MS)"/>
              </a:rPr>
              <a:t>Team Members</a:t>
            </a:r>
          </a:p>
          <a:p>
            <a:pPr marL="777240" lvl="1" indent="-388620" algn="l">
              <a:lnSpc>
                <a:spcPts val="3888"/>
              </a:lnSpc>
              <a:buFont typeface="Arial"/>
              <a:buChar char="•"/>
            </a:pPr>
            <a:r>
              <a:rPr lang="en-US" sz="3600">
                <a:solidFill>
                  <a:srgbClr val="0070C0"/>
                </a:solidFill>
                <a:latin typeface="Calibri (MS)"/>
                <a:ea typeface="Calibri (MS)"/>
                <a:cs typeface="Calibri (MS)"/>
                <a:sym typeface="Calibri (MS)"/>
              </a:rPr>
              <a:t>D.Nikhil Krishna              :2520090025</a:t>
            </a:r>
          </a:p>
          <a:p>
            <a:pPr marL="777240" lvl="1" indent="-388620" algn="l">
              <a:lnSpc>
                <a:spcPts val="3888"/>
              </a:lnSpc>
              <a:buFont typeface="Arial"/>
              <a:buChar char="•"/>
            </a:pPr>
            <a:r>
              <a:rPr lang="en-US" sz="3600">
                <a:solidFill>
                  <a:srgbClr val="0070C0"/>
                </a:solidFill>
                <a:latin typeface="Calibri (MS)"/>
                <a:ea typeface="Calibri (MS)"/>
                <a:cs typeface="Calibri (MS)"/>
                <a:sym typeface="Calibri (MS)"/>
              </a:rPr>
              <a:t>Adithya                            :2520080036</a:t>
            </a:r>
          </a:p>
          <a:p>
            <a:pPr marL="777240" lvl="1" indent="-388620" algn="l">
              <a:lnSpc>
                <a:spcPts val="3888"/>
              </a:lnSpc>
              <a:buFont typeface="Arial"/>
              <a:buChar char="•"/>
            </a:pPr>
            <a:r>
              <a:rPr lang="en-US" sz="3600">
                <a:solidFill>
                  <a:srgbClr val="0070C0"/>
                </a:solidFill>
                <a:latin typeface="Calibri (MS)"/>
                <a:ea typeface="Calibri (MS)"/>
                <a:cs typeface="Calibri (MS)"/>
                <a:sym typeface="Calibri (MS)"/>
              </a:rPr>
              <a:t>B.Purna Chandar Rao    :2520090188                                   </a:t>
            </a:r>
          </a:p>
          <a:p>
            <a:pPr algn="ctr">
              <a:lnSpc>
                <a:spcPts val="3466"/>
              </a:lnSpc>
            </a:pPr>
            <a:endParaRPr lang="en-US" sz="3600">
              <a:solidFill>
                <a:srgbClr val="0070C0"/>
              </a:solidFill>
              <a:latin typeface="Calibri (MS)"/>
              <a:ea typeface="Calibri (MS)"/>
              <a:cs typeface="Calibri (MS)"/>
              <a:sym typeface="Calibri (MS)"/>
            </a:endParaRPr>
          </a:p>
          <a:p>
            <a:pPr algn="ctr">
              <a:lnSpc>
                <a:spcPts val="3466"/>
              </a:lnSpc>
            </a:pPr>
            <a:r>
              <a:rPr lang="en-US" sz="2700">
                <a:solidFill>
                  <a:srgbClr val="000000"/>
                </a:solidFill>
                <a:latin typeface="Times New Roman"/>
                <a:ea typeface="Times New Roman"/>
                <a:cs typeface="Times New Roman"/>
                <a:sym typeface="Times New Roman"/>
              </a:rPr>
              <a:t>Under the Esteemed Guidance of</a:t>
            </a:r>
          </a:p>
          <a:p>
            <a:pPr algn="ctr">
              <a:lnSpc>
                <a:spcPts val="3466"/>
              </a:lnSpc>
            </a:pPr>
            <a:r>
              <a:rPr lang="en-US" sz="2700">
                <a:solidFill>
                  <a:srgbClr val="000000"/>
                </a:solidFill>
                <a:latin typeface="Times New Roman"/>
                <a:ea typeface="Times New Roman"/>
                <a:cs typeface="Times New Roman"/>
                <a:sym typeface="Times New Roman"/>
              </a:rPr>
              <a:t>Dr.Dyuti Banerjee</a:t>
            </a:r>
          </a:p>
          <a:p>
            <a:pPr algn="ctr">
              <a:lnSpc>
                <a:spcPts val="3466"/>
              </a:lnSpc>
            </a:pPr>
            <a:r>
              <a:rPr lang="en-US" sz="2700">
                <a:solidFill>
                  <a:srgbClr val="000000"/>
                </a:solidFill>
                <a:latin typeface="Times New Roman"/>
                <a:ea typeface="Times New Roman"/>
                <a:cs typeface="Times New Roman"/>
                <a:sym typeface="Times New Roman"/>
              </a:rPr>
              <a:t> Asst Prof,AI&amp;DS</a:t>
            </a:r>
          </a:p>
          <a:p>
            <a:pPr algn="ctr">
              <a:lnSpc>
                <a:spcPts val="2916"/>
              </a:lnSpc>
            </a:pPr>
            <a:endParaRPr lang="en-US" sz="2700">
              <a:solidFill>
                <a:srgbClr val="000000"/>
              </a:solidFill>
              <a:latin typeface="Times New Roman"/>
              <a:ea typeface="Times New Roman"/>
              <a:cs typeface="Times New Roman"/>
              <a:sym typeface="Times New Roman"/>
            </a:endParaRPr>
          </a:p>
          <a:p>
            <a:pPr algn="ctr">
              <a:lnSpc>
                <a:spcPts val="2916"/>
              </a:lnSpc>
            </a:pPr>
            <a:endParaRPr lang="en-US" sz="2700">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E5D6"/>
        </a:solidFill>
        <a:effectLst/>
      </p:bgPr>
    </p:bg>
    <p:spTree>
      <p:nvGrpSpPr>
        <p:cNvPr id="1" name=""/>
        <p:cNvGrpSpPr/>
        <p:nvPr/>
      </p:nvGrpSpPr>
      <p:grpSpPr>
        <a:xfrm>
          <a:off x="0" y="0"/>
          <a:ext cx="0" cy="0"/>
          <a:chOff x="0" y="0"/>
          <a:chExt cx="0" cy="0"/>
        </a:xfrm>
      </p:grpSpPr>
      <p:grpSp>
        <p:nvGrpSpPr>
          <p:cNvPr id="2" name="Group 2"/>
          <p:cNvGrpSpPr/>
          <p:nvPr/>
        </p:nvGrpSpPr>
        <p:grpSpPr>
          <a:xfrm>
            <a:off x="0" y="66675"/>
            <a:ext cx="3152775" cy="1350169"/>
            <a:chOff x="0" y="0"/>
            <a:chExt cx="4203700" cy="1800225"/>
          </a:xfrm>
        </p:grpSpPr>
        <p:sp>
          <p:nvSpPr>
            <p:cNvPr id="3" name="Freeform 3" descr="KL University Hyderabad"/>
            <p:cNvSpPr/>
            <p:nvPr/>
          </p:nvSpPr>
          <p:spPr>
            <a:xfrm>
              <a:off x="0" y="0"/>
              <a:ext cx="4203700" cy="1800225"/>
            </a:xfrm>
            <a:custGeom>
              <a:avLst/>
              <a:gdLst/>
              <a:ahLst/>
              <a:cxnLst/>
              <a:rect l="l" t="t" r="r" b="b"/>
              <a:pathLst>
                <a:path w="4203700" h="1800225">
                  <a:moveTo>
                    <a:pt x="0" y="0"/>
                  </a:moveTo>
                  <a:lnTo>
                    <a:pt x="4203700" y="0"/>
                  </a:lnTo>
                  <a:lnTo>
                    <a:pt x="4203700" y="1800225"/>
                  </a:lnTo>
                  <a:lnTo>
                    <a:pt x="0" y="1800225"/>
                  </a:lnTo>
                  <a:lnTo>
                    <a:pt x="0" y="0"/>
                  </a:lnTo>
                  <a:close/>
                </a:path>
              </a:pathLst>
            </a:custGeom>
            <a:blipFill>
              <a:blip r:embed="rId2"/>
              <a:stretch>
                <a:fillRect b="-75"/>
              </a:stretch>
            </a:blipFill>
          </p:spPr>
        </p:sp>
      </p:grpSp>
      <p:grpSp>
        <p:nvGrpSpPr>
          <p:cNvPr id="4" name="Group 4"/>
          <p:cNvGrpSpPr/>
          <p:nvPr/>
        </p:nvGrpSpPr>
        <p:grpSpPr>
          <a:xfrm>
            <a:off x="0" y="10217944"/>
            <a:ext cx="18288000" cy="69056"/>
            <a:chOff x="0" y="0"/>
            <a:chExt cx="24384000" cy="92075"/>
          </a:xfrm>
        </p:grpSpPr>
        <p:sp>
          <p:nvSpPr>
            <p:cNvPr id="5" name="Freeform 5"/>
            <p:cNvSpPr/>
            <p:nvPr/>
          </p:nvSpPr>
          <p:spPr>
            <a:xfrm>
              <a:off x="0" y="0"/>
              <a:ext cx="24384000" cy="92075"/>
            </a:xfrm>
            <a:custGeom>
              <a:avLst/>
              <a:gdLst/>
              <a:ahLst/>
              <a:cxnLst/>
              <a:rect l="l" t="t" r="r" b="b"/>
              <a:pathLst>
                <a:path w="24384000" h="92075">
                  <a:moveTo>
                    <a:pt x="0" y="0"/>
                  </a:moveTo>
                  <a:lnTo>
                    <a:pt x="24384000" y="0"/>
                  </a:lnTo>
                  <a:lnTo>
                    <a:pt x="24384000" y="92075"/>
                  </a:lnTo>
                  <a:lnTo>
                    <a:pt x="0" y="92075"/>
                  </a:lnTo>
                  <a:close/>
                </a:path>
              </a:pathLst>
            </a:custGeom>
            <a:solidFill>
              <a:srgbClr val="BA2532"/>
            </a:solidFill>
          </p:spPr>
        </p:sp>
      </p:grpSp>
      <p:grpSp>
        <p:nvGrpSpPr>
          <p:cNvPr id="6" name="Group 6"/>
          <p:cNvGrpSpPr/>
          <p:nvPr/>
        </p:nvGrpSpPr>
        <p:grpSpPr>
          <a:xfrm>
            <a:off x="0" y="0"/>
            <a:ext cx="18288000" cy="69056"/>
            <a:chOff x="0" y="0"/>
            <a:chExt cx="24384000" cy="92075"/>
          </a:xfrm>
        </p:grpSpPr>
        <p:sp>
          <p:nvSpPr>
            <p:cNvPr id="7" name="Freeform 7"/>
            <p:cNvSpPr/>
            <p:nvPr/>
          </p:nvSpPr>
          <p:spPr>
            <a:xfrm>
              <a:off x="0" y="0"/>
              <a:ext cx="24384000" cy="92075"/>
            </a:xfrm>
            <a:custGeom>
              <a:avLst/>
              <a:gdLst/>
              <a:ahLst/>
              <a:cxnLst/>
              <a:rect l="l" t="t" r="r" b="b"/>
              <a:pathLst>
                <a:path w="24384000" h="92075">
                  <a:moveTo>
                    <a:pt x="0" y="0"/>
                  </a:moveTo>
                  <a:lnTo>
                    <a:pt x="24384000" y="0"/>
                  </a:lnTo>
                  <a:lnTo>
                    <a:pt x="24384000" y="92075"/>
                  </a:lnTo>
                  <a:lnTo>
                    <a:pt x="0" y="92075"/>
                  </a:lnTo>
                  <a:close/>
                </a:path>
              </a:pathLst>
            </a:custGeom>
            <a:solidFill>
              <a:srgbClr val="BA2532"/>
            </a:solidFill>
          </p:spPr>
        </p:sp>
      </p:grpSp>
      <p:grpSp>
        <p:nvGrpSpPr>
          <p:cNvPr id="10" name="Group 10"/>
          <p:cNvGrpSpPr/>
          <p:nvPr/>
        </p:nvGrpSpPr>
        <p:grpSpPr>
          <a:xfrm>
            <a:off x="5594642" y="322983"/>
            <a:ext cx="7098725" cy="794899"/>
            <a:chOff x="0" y="0"/>
            <a:chExt cx="9464967" cy="1059866"/>
          </a:xfrm>
        </p:grpSpPr>
        <p:sp>
          <p:nvSpPr>
            <p:cNvPr id="11" name="Freeform 11"/>
            <p:cNvSpPr/>
            <p:nvPr/>
          </p:nvSpPr>
          <p:spPr>
            <a:xfrm>
              <a:off x="0" y="0"/>
              <a:ext cx="9464928" cy="1059942"/>
            </a:xfrm>
            <a:custGeom>
              <a:avLst/>
              <a:gdLst/>
              <a:ahLst/>
              <a:cxnLst/>
              <a:rect l="l" t="t" r="r" b="b"/>
              <a:pathLst>
                <a:path w="9464928" h="1059942">
                  <a:moveTo>
                    <a:pt x="0" y="176657"/>
                  </a:moveTo>
                  <a:cubicBezTo>
                    <a:pt x="0" y="79121"/>
                    <a:pt x="79121" y="0"/>
                    <a:pt x="176657" y="0"/>
                  </a:cubicBezTo>
                  <a:lnTo>
                    <a:pt x="9288272" y="0"/>
                  </a:lnTo>
                  <a:cubicBezTo>
                    <a:pt x="9385808" y="0"/>
                    <a:pt x="9464928" y="79121"/>
                    <a:pt x="9464928" y="176657"/>
                  </a:cubicBezTo>
                  <a:lnTo>
                    <a:pt x="9464928" y="883285"/>
                  </a:lnTo>
                  <a:cubicBezTo>
                    <a:pt x="9464928" y="980821"/>
                    <a:pt x="9385808" y="1059942"/>
                    <a:pt x="9288272" y="1059942"/>
                  </a:cubicBezTo>
                  <a:lnTo>
                    <a:pt x="176657" y="1059942"/>
                  </a:lnTo>
                  <a:cubicBezTo>
                    <a:pt x="79121" y="1059815"/>
                    <a:pt x="0" y="980821"/>
                    <a:pt x="0" y="883285"/>
                  </a:cubicBezTo>
                  <a:close/>
                </a:path>
              </a:pathLst>
            </a:custGeom>
            <a:solidFill>
              <a:srgbClr val="C00000"/>
            </a:solidFill>
            <a:ln w="19050" cap="sq">
              <a:solidFill>
                <a:srgbClr val="172C51"/>
              </a:solidFill>
              <a:prstDash val="solid"/>
              <a:miter/>
            </a:ln>
          </p:spPr>
        </p:sp>
      </p:grpSp>
      <p:sp>
        <p:nvSpPr>
          <p:cNvPr id="12" name="TextBox 12"/>
          <p:cNvSpPr txBox="1"/>
          <p:nvPr/>
        </p:nvSpPr>
        <p:spPr>
          <a:xfrm>
            <a:off x="4081548" y="292503"/>
            <a:ext cx="10124904" cy="871452"/>
          </a:xfrm>
          <a:prstGeom prst="rect">
            <a:avLst/>
          </a:prstGeom>
        </p:spPr>
        <p:txBody>
          <a:bodyPr lIns="0" tIns="0" rIns="0" bIns="0" rtlCol="0" anchor="t">
            <a:spAutoFit/>
          </a:bodyPr>
          <a:lstStyle/>
          <a:p>
            <a:pPr algn="ctr">
              <a:lnSpc>
                <a:spcPts val="5759"/>
              </a:lnSpc>
            </a:pPr>
            <a:r>
              <a:rPr lang="en-US" sz="4800" b="1">
                <a:solidFill>
                  <a:srgbClr val="FFFFFF"/>
                </a:solidFill>
                <a:latin typeface="Calibri (MS) Bold"/>
                <a:ea typeface="Calibri (MS) Bold"/>
                <a:cs typeface="Calibri (MS) Bold"/>
                <a:sym typeface="Calibri (MS) Bold"/>
              </a:rPr>
              <a:t>Abstract</a:t>
            </a:r>
          </a:p>
        </p:txBody>
      </p:sp>
      <p:sp>
        <p:nvSpPr>
          <p:cNvPr id="13" name="TextBox 13"/>
          <p:cNvSpPr txBox="1"/>
          <p:nvPr/>
        </p:nvSpPr>
        <p:spPr>
          <a:xfrm>
            <a:off x="0" y="3899554"/>
            <a:ext cx="17893076" cy="4775073"/>
          </a:xfrm>
          <a:prstGeom prst="rect">
            <a:avLst/>
          </a:prstGeom>
        </p:spPr>
        <p:txBody>
          <a:bodyPr lIns="0" tIns="0" rIns="0" bIns="0" rtlCol="0" anchor="t">
            <a:spAutoFit/>
          </a:bodyPr>
          <a:lstStyle/>
          <a:p>
            <a:pPr algn="ctr">
              <a:lnSpc>
                <a:spcPts val="2916"/>
              </a:lnSpc>
              <a:spcBef>
                <a:spcPct val="0"/>
              </a:spcBef>
            </a:pPr>
            <a:r>
              <a:rPr lang="en-US" sz="2700" b="1">
                <a:solidFill>
                  <a:srgbClr val="000000"/>
                </a:solidFill>
                <a:latin typeface="Calibri (MS) Bold"/>
                <a:ea typeface="Calibri (MS) Bold"/>
                <a:cs typeface="Calibri (MS) Bold"/>
                <a:sym typeface="Calibri (MS) Bold"/>
              </a:rPr>
              <a:t>The News &amp; Social Media Analytics Engine is a DSA-based system designed to efficiently process and organize large volumes of news articles and social media posts. The project applies fundamental data structures and algorithms to solve practical problems in media analysis. </a:t>
            </a:r>
          </a:p>
          <a:p>
            <a:pPr algn="ctr">
              <a:lnSpc>
                <a:spcPts val="2916"/>
              </a:lnSpc>
              <a:spcBef>
                <a:spcPct val="0"/>
              </a:spcBef>
            </a:pPr>
            <a:endParaRPr lang="en-US" sz="2700" b="1">
              <a:solidFill>
                <a:srgbClr val="000000"/>
              </a:solidFill>
              <a:latin typeface="Calibri (MS) Bold"/>
              <a:ea typeface="Calibri (MS) Bold"/>
              <a:cs typeface="Calibri (MS) Bold"/>
              <a:sym typeface="Calibri (MS) Bold"/>
            </a:endParaRPr>
          </a:p>
          <a:p>
            <a:pPr algn="ctr">
              <a:lnSpc>
                <a:spcPts val="2916"/>
              </a:lnSpc>
              <a:spcBef>
                <a:spcPct val="0"/>
              </a:spcBef>
            </a:pPr>
            <a:r>
              <a:rPr lang="en-US" sz="2700" b="1">
                <a:solidFill>
                  <a:srgbClr val="000000"/>
                </a:solidFill>
                <a:latin typeface="Calibri (MS) Bold"/>
                <a:ea typeface="Calibri (MS) Bold"/>
                <a:cs typeface="Calibri (MS) Bold"/>
                <a:sym typeface="Calibri (MS) Bold"/>
              </a:rPr>
              <a:t>Hash tables are used for fast duplicate-content detection, queues manage incoming posts, heaps prioritize trending or important stories, and graphs represent relationships between related news items. Trees and sorting algorithms support efficient searching, classification, and ranking of content. </a:t>
            </a:r>
          </a:p>
          <a:p>
            <a:pPr algn="ctr">
              <a:lnSpc>
                <a:spcPts val="2916"/>
              </a:lnSpc>
              <a:spcBef>
                <a:spcPct val="0"/>
              </a:spcBef>
            </a:pPr>
            <a:endParaRPr lang="en-US" sz="2700" b="1">
              <a:solidFill>
                <a:srgbClr val="000000"/>
              </a:solidFill>
              <a:latin typeface="Calibri (MS) Bold"/>
              <a:ea typeface="Calibri (MS) Bold"/>
              <a:cs typeface="Calibri (MS) Bold"/>
              <a:sym typeface="Calibri (MS) Bold"/>
            </a:endParaRPr>
          </a:p>
          <a:p>
            <a:pPr algn="ctr">
              <a:lnSpc>
                <a:spcPts val="2916"/>
              </a:lnSpc>
              <a:spcBef>
                <a:spcPct val="0"/>
              </a:spcBef>
            </a:pPr>
            <a:r>
              <a:rPr lang="en-US" sz="2700" b="1">
                <a:solidFill>
                  <a:srgbClr val="000000"/>
                </a:solidFill>
                <a:latin typeface="Calibri (MS) Bold"/>
                <a:ea typeface="Calibri (MS) Bold"/>
                <a:cs typeface="Calibri (MS) Bold"/>
                <a:sym typeface="Calibri (MS) Bold"/>
              </a:rPr>
              <a:t>The system can group related stories, identify duplicate posts, rank trending content, and assign high-priority posts for moderation. By applying efficient searching, hashing, sorting, graph traversal, and priority-based processing techniques, the system demonstrates how DSA concepts can be used to handle large datasets efficiently. </a:t>
            </a:r>
          </a:p>
          <a:p>
            <a:pPr algn="ctr">
              <a:lnSpc>
                <a:spcPts val="2916"/>
              </a:lnSpc>
              <a:spcBef>
                <a:spcPct val="0"/>
              </a:spcBef>
            </a:pPr>
            <a:endParaRPr lang="en-US" sz="2700" b="1">
              <a:solidFill>
                <a:srgbClr val="000000"/>
              </a:solidFill>
              <a:latin typeface="Calibri (MS) Bold"/>
              <a:ea typeface="Calibri (MS) Bold"/>
              <a:cs typeface="Calibri (MS) Bold"/>
              <a:sym typeface="Calibri (MS) Bold"/>
            </a:endParaRPr>
          </a:p>
          <a:p>
            <a:pPr algn="ctr">
              <a:lnSpc>
                <a:spcPts val="2916"/>
              </a:lnSpc>
              <a:spcBef>
                <a:spcPct val="0"/>
              </a:spcBef>
            </a:pPr>
            <a:r>
              <a:rPr lang="en-US" sz="2700" b="1">
                <a:solidFill>
                  <a:srgbClr val="000000"/>
                </a:solidFill>
                <a:latin typeface="Calibri (MS) Bold"/>
                <a:ea typeface="Calibri (MS) Bold"/>
                <a:cs typeface="Calibri (MS) Bold"/>
                <a:sym typeface="Calibri (MS) Bold"/>
              </a:rPr>
              <a:t>The project aims to provide a structured and scalable approach to news and social media content analysis.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E5D6"/>
        </a:solidFill>
        <a:effectLst/>
      </p:bgPr>
    </p:bg>
    <p:spTree>
      <p:nvGrpSpPr>
        <p:cNvPr id="1" name=""/>
        <p:cNvGrpSpPr/>
        <p:nvPr/>
      </p:nvGrpSpPr>
      <p:grpSpPr>
        <a:xfrm>
          <a:off x="0" y="0"/>
          <a:ext cx="0" cy="0"/>
          <a:chOff x="0" y="0"/>
          <a:chExt cx="0" cy="0"/>
        </a:xfrm>
      </p:grpSpPr>
      <p:grpSp>
        <p:nvGrpSpPr>
          <p:cNvPr id="2" name="Group 2"/>
          <p:cNvGrpSpPr/>
          <p:nvPr/>
        </p:nvGrpSpPr>
        <p:grpSpPr>
          <a:xfrm>
            <a:off x="0" y="66675"/>
            <a:ext cx="3152775" cy="1350169"/>
            <a:chOff x="0" y="0"/>
            <a:chExt cx="4203700" cy="1800225"/>
          </a:xfrm>
        </p:grpSpPr>
        <p:sp>
          <p:nvSpPr>
            <p:cNvPr id="3" name="Freeform 3" descr="KL University Hyderabad"/>
            <p:cNvSpPr/>
            <p:nvPr/>
          </p:nvSpPr>
          <p:spPr>
            <a:xfrm>
              <a:off x="0" y="0"/>
              <a:ext cx="4203700" cy="1800225"/>
            </a:xfrm>
            <a:custGeom>
              <a:avLst/>
              <a:gdLst/>
              <a:ahLst/>
              <a:cxnLst/>
              <a:rect l="l" t="t" r="r" b="b"/>
              <a:pathLst>
                <a:path w="4203700" h="1800225">
                  <a:moveTo>
                    <a:pt x="0" y="0"/>
                  </a:moveTo>
                  <a:lnTo>
                    <a:pt x="4203700" y="0"/>
                  </a:lnTo>
                  <a:lnTo>
                    <a:pt x="4203700" y="1800225"/>
                  </a:lnTo>
                  <a:lnTo>
                    <a:pt x="0" y="1800225"/>
                  </a:lnTo>
                  <a:lnTo>
                    <a:pt x="0" y="0"/>
                  </a:lnTo>
                  <a:close/>
                </a:path>
              </a:pathLst>
            </a:custGeom>
            <a:blipFill>
              <a:blip r:embed="rId2"/>
              <a:stretch>
                <a:fillRect b="-75"/>
              </a:stretch>
            </a:blipFill>
          </p:spPr>
        </p:sp>
      </p:grpSp>
      <p:grpSp>
        <p:nvGrpSpPr>
          <p:cNvPr id="4" name="Group 4"/>
          <p:cNvGrpSpPr/>
          <p:nvPr/>
        </p:nvGrpSpPr>
        <p:grpSpPr>
          <a:xfrm>
            <a:off x="0" y="10217944"/>
            <a:ext cx="18288000" cy="69056"/>
            <a:chOff x="0" y="0"/>
            <a:chExt cx="24384000" cy="92075"/>
          </a:xfrm>
        </p:grpSpPr>
        <p:sp>
          <p:nvSpPr>
            <p:cNvPr id="5" name="Freeform 5"/>
            <p:cNvSpPr/>
            <p:nvPr/>
          </p:nvSpPr>
          <p:spPr>
            <a:xfrm>
              <a:off x="0" y="0"/>
              <a:ext cx="24384000" cy="92075"/>
            </a:xfrm>
            <a:custGeom>
              <a:avLst/>
              <a:gdLst/>
              <a:ahLst/>
              <a:cxnLst/>
              <a:rect l="l" t="t" r="r" b="b"/>
              <a:pathLst>
                <a:path w="24384000" h="92075">
                  <a:moveTo>
                    <a:pt x="0" y="0"/>
                  </a:moveTo>
                  <a:lnTo>
                    <a:pt x="24384000" y="0"/>
                  </a:lnTo>
                  <a:lnTo>
                    <a:pt x="24384000" y="92075"/>
                  </a:lnTo>
                  <a:lnTo>
                    <a:pt x="0" y="92075"/>
                  </a:lnTo>
                  <a:close/>
                </a:path>
              </a:pathLst>
            </a:custGeom>
            <a:solidFill>
              <a:srgbClr val="BA2532"/>
            </a:solidFill>
          </p:spPr>
        </p:sp>
      </p:grpSp>
      <p:grpSp>
        <p:nvGrpSpPr>
          <p:cNvPr id="6" name="Group 6"/>
          <p:cNvGrpSpPr/>
          <p:nvPr/>
        </p:nvGrpSpPr>
        <p:grpSpPr>
          <a:xfrm>
            <a:off x="0" y="0"/>
            <a:ext cx="18288000" cy="69056"/>
            <a:chOff x="0" y="0"/>
            <a:chExt cx="24384000" cy="92075"/>
          </a:xfrm>
        </p:grpSpPr>
        <p:sp>
          <p:nvSpPr>
            <p:cNvPr id="7" name="Freeform 7"/>
            <p:cNvSpPr/>
            <p:nvPr/>
          </p:nvSpPr>
          <p:spPr>
            <a:xfrm>
              <a:off x="0" y="0"/>
              <a:ext cx="24384000" cy="92075"/>
            </a:xfrm>
            <a:custGeom>
              <a:avLst/>
              <a:gdLst/>
              <a:ahLst/>
              <a:cxnLst/>
              <a:rect l="l" t="t" r="r" b="b"/>
              <a:pathLst>
                <a:path w="24384000" h="92075">
                  <a:moveTo>
                    <a:pt x="0" y="0"/>
                  </a:moveTo>
                  <a:lnTo>
                    <a:pt x="24384000" y="0"/>
                  </a:lnTo>
                  <a:lnTo>
                    <a:pt x="24384000" y="92075"/>
                  </a:lnTo>
                  <a:lnTo>
                    <a:pt x="0" y="92075"/>
                  </a:lnTo>
                  <a:close/>
                </a:path>
              </a:pathLst>
            </a:custGeom>
            <a:solidFill>
              <a:srgbClr val="BA2532"/>
            </a:solidFill>
          </p:spPr>
        </p:sp>
      </p:grpSp>
      <p:grpSp>
        <p:nvGrpSpPr>
          <p:cNvPr id="10" name="Group 10"/>
          <p:cNvGrpSpPr/>
          <p:nvPr/>
        </p:nvGrpSpPr>
        <p:grpSpPr>
          <a:xfrm>
            <a:off x="5594642" y="322983"/>
            <a:ext cx="7098725" cy="794899"/>
            <a:chOff x="0" y="0"/>
            <a:chExt cx="9464967" cy="1059866"/>
          </a:xfrm>
        </p:grpSpPr>
        <p:sp>
          <p:nvSpPr>
            <p:cNvPr id="11" name="Freeform 11"/>
            <p:cNvSpPr/>
            <p:nvPr/>
          </p:nvSpPr>
          <p:spPr>
            <a:xfrm>
              <a:off x="0" y="0"/>
              <a:ext cx="9464928" cy="1059942"/>
            </a:xfrm>
            <a:custGeom>
              <a:avLst/>
              <a:gdLst/>
              <a:ahLst/>
              <a:cxnLst/>
              <a:rect l="l" t="t" r="r" b="b"/>
              <a:pathLst>
                <a:path w="9464928" h="1059942">
                  <a:moveTo>
                    <a:pt x="0" y="176657"/>
                  </a:moveTo>
                  <a:cubicBezTo>
                    <a:pt x="0" y="79121"/>
                    <a:pt x="79121" y="0"/>
                    <a:pt x="176657" y="0"/>
                  </a:cubicBezTo>
                  <a:lnTo>
                    <a:pt x="9288272" y="0"/>
                  </a:lnTo>
                  <a:cubicBezTo>
                    <a:pt x="9385808" y="0"/>
                    <a:pt x="9464928" y="79121"/>
                    <a:pt x="9464928" y="176657"/>
                  </a:cubicBezTo>
                  <a:lnTo>
                    <a:pt x="9464928" y="883285"/>
                  </a:lnTo>
                  <a:cubicBezTo>
                    <a:pt x="9464928" y="980821"/>
                    <a:pt x="9385808" y="1059942"/>
                    <a:pt x="9288272" y="1059942"/>
                  </a:cubicBezTo>
                  <a:lnTo>
                    <a:pt x="176657" y="1059942"/>
                  </a:lnTo>
                  <a:cubicBezTo>
                    <a:pt x="79121" y="1059815"/>
                    <a:pt x="0" y="980821"/>
                    <a:pt x="0" y="883285"/>
                  </a:cubicBezTo>
                  <a:close/>
                </a:path>
              </a:pathLst>
            </a:custGeom>
            <a:solidFill>
              <a:srgbClr val="C00000"/>
            </a:solidFill>
            <a:ln w="19050" cap="sq">
              <a:solidFill>
                <a:srgbClr val="172C51"/>
              </a:solidFill>
              <a:prstDash val="solid"/>
              <a:miter/>
            </a:ln>
          </p:spPr>
        </p:sp>
      </p:grpSp>
      <p:sp>
        <p:nvSpPr>
          <p:cNvPr id="12" name="TextBox 12"/>
          <p:cNvSpPr txBox="1"/>
          <p:nvPr/>
        </p:nvSpPr>
        <p:spPr>
          <a:xfrm>
            <a:off x="4081548" y="250946"/>
            <a:ext cx="10124904" cy="871452"/>
          </a:xfrm>
          <a:prstGeom prst="rect">
            <a:avLst/>
          </a:prstGeom>
        </p:spPr>
        <p:txBody>
          <a:bodyPr lIns="0" tIns="0" rIns="0" bIns="0" rtlCol="0" anchor="t">
            <a:spAutoFit/>
          </a:bodyPr>
          <a:lstStyle/>
          <a:p>
            <a:pPr algn="ctr">
              <a:lnSpc>
                <a:spcPts val="5759"/>
              </a:lnSpc>
            </a:pPr>
            <a:r>
              <a:rPr lang="en-US" sz="4800" b="1">
                <a:solidFill>
                  <a:srgbClr val="FFFFFF"/>
                </a:solidFill>
                <a:latin typeface="Calibri (MS) Bold"/>
                <a:ea typeface="Calibri (MS) Bold"/>
                <a:cs typeface="Calibri (MS) Bold"/>
                <a:sym typeface="Calibri (MS) Bold"/>
              </a:rPr>
              <a:t>Introduction</a:t>
            </a:r>
          </a:p>
        </p:txBody>
      </p:sp>
      <p:sp>
        <p:nvSpPr>
          <p:cNvPr id="13" name="TextBox 13"/>
          <p:cNvSpPr txBox="1"/>
          <p:nvPr/>
        </p:nvSpPr>
        <p:spPr>
          <a:xfrm>
            <a:off x="0" y="4733925"/>
            <a:ext cx="18288000" cy="4133850"/>
          </a:xfrm>
          <a:prstGeom prst="rect">
            <a:avLst/>
          </a:prstGeom>
        </p:spPr>
        <p:txBody>
          <a:bodyPr lIns="0" tIns="0" rIns="0" bIns="0" rtlCol="0" anchor="t">
            <a:spAutoFit/>
          </a:bodyPr>
          <a:lstStyle/>
          <a:p>
            <a:pPr algn="ctr">
              <a:lnSpc>
                <a:spcPts val="2999"/>
              </a:lnSpc>
            </a:pPr>
            <a:r>
              <a:rPr lang="en-US" sz="2499" b="1">
                <a:solidFill>
                  <a:srgbClr val="000000"/>
                </a:solidFill>
                <a:latin typeface="Calibri (MS) Bold"/>
                <a:ea typeface="Calibri (MS) Bold"/>
                <a:cs typeface="Calibri (MS) Bold"/>
                <a:sym typeface="Calibri (MS) Bold"/>
              </a:rPr>
              <a:t>The rapid growth of online news and social media platforms produces a huge amount of content every day. Processing this information manually is difficult because many articles and posts may contain duplicate or related information. Efficient algorithms and data structures are therefore required to organize, search, compare, and prioritize this content.</a:t>
            </a:r>
          </a:p>
          <a:p>
            <a:pPr algn="ctr">
              <a:lnSpc>
                <a:spcPts val="2999"/>
              </a:lnSpc>
            </a:pPr>
            <a:endParaRPr lang="en-US" sz="2499" b="1">
              <a:solidFill>
                <a:srgbClr val="000000"/>
              </a:solidFill>
              <a:latin typeface="Calibri (MS) Bold"/>
              <a:ea typeface="Calibri (MS) Bold"/>
              <a:cs typeface="Calibri (MS) Bold"/>
              <a:sym typeface="Calibri (MS) Bold"/>
            </a:endParaRPr>
          </a:p>
          <a:p>
            <a:pPr algn="ctr">
              <a:lnSpc>
                <a:spcPts val="2999"/>
              </a:lnSpc>
            </a:pPr>
            <a:r>
              <a:rPr lang="en-US" sz="2499" b="1">
                <a:solidFill>
                  <a:srgbClr val="000000"/>
                </a:solidFill>
                <a:latin typeface="Calibri (MS) Bold"/>
                <a:ea typeface="Calibri (MS) Bold"/>
                <a:cs typeface="Calibri (MS) Bold"/>
                <a:sym typeface="Calibri (MS) Bold"/>
              </a:rPr>
              <a:t>The News &amp; Social Media Analytics Engine applies Data Structures and Algorithms to these problems. Incoming posts can be maintained using queues, while hash tables provide fast detection of duplicate content. Graphs can represent relationships between related stories, and heaps or priority queues can be used to identify and prioritize trending or important posts. Sorting and searching algorithms help rank and retrieve information efficiently.</a:t>
            </a:r>
          </a:p>
          <a:p>
            <a:pPr algn="ctr">
              <a:lnSpc>
                <a:spcPts val="2999"/>
              </a:lnSpc>
            </a:pPr>
            <a:endParaRPr lang="en-US" sz="2499" b="1">
              <a:solidFill>
                <a:srgbClr val="000000"/>
              </a:solidFill>
              <a:latin typeface="Calibri (MS) Bold"/>
              <a:ea typeface="Calibri (MS) Bold"/>
              <a:cs typeface="Calibri (MS) Bold"/>
              <a:sym typeface="Calibri (MS) Bold"/>
            </a:endParaRPr>
          </a:p>
          <a:p>
            <a:pPr algn="ctr">
              <a:lnSpc>
                <a:spcPts val="2999"/>
              </a:lnSpc>
              <a:spcBef>
                <a:spcPct val="0"/>
              </a:spcBef>
            </a:pPr>
            <a:r>
              <a:rPr lang="en-US" sz="2499" b="1">
                <a:solidFill>
                  <a:srgbClr val="000000"/>
                </a:solidFill>
                <a:latin typeface="Calibri (MS) Bold"/>
                <a:ea typeface="Calibri (MS) Bold"/>
                <a:cs typeface="Calibri (MS) Bold"/>
                <a:sym typeface="Calibri (MS) Bold"/>
              </a:rPr>
              <a:t>The project demonstrates how DSA concepts can be combined to build an efficient system capable of processing and organizing large quantities of media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E5D6"/>
        </a:solidFill>
        <a:effectLst/>
      </p:bgPr>
    </p:bg>
    <p:spTree>
      <p:nvGrpSpPr>
        <p:cNvPr id="1" name=""/>
        <p:cNvGrpSpPr/>
        <p:nvPr/>
      </p:nvGrpSpPr>
      <p:grpSpPr>
        <a:xfrm>
          <a:off x="0" y="0"/>
          <a:ext cx="0" cy="0"/>
          <a:chOff x="0" y="0"/>
          <a:chExt cx="0" cy="0"/>
        </a:xfrm>
      </p:grpSpPr>
      <p:grpSp>
        <p:nvGrpSpPr>
          <p:cNvPr id="2" name="Group 2"/>
          <p:cNvGrpSpPr/>
          <p:nvPr/>
        </p:nvGrpSpPr>
        <p:grpSpPr>
          <a:xfrm>
            <a:off x="0" y="66675"/>
            <a:ext cx="3152775" cy="1350169"/>
            <a:chOff x="0" y="0"/>
            <a:chExt cx="4203700" cy="1800225"/>
          </a:xfrm>
        </p:grpSpPr>
        <p:sp>
          <p:nvSpPr>
            <p:cNvPr id="3" name="Freeform 3" descr="KL University Hyderabad"/>
            <p:cNvSpPr/>
            <p:nvPr/>
          </p:nvSpPr>
          <p:spPr>
            <a:xfrm>
              <a:off x="0" y="0"/>
              <a:ext cx="4203700" cy="1800225"/>
            </a:xfrm>
            <a:custGeom>
              <a:avLst/>
              <a:gdLst/>
              <a:ahLst/>
              <a:cxnLst/>
              <a:rect l="l" t="t" r="r" b="b"/>
              <a:pathLst>
                <a:path w="4203700" h="1800225">
                  <a:moveTo>
                    <a:pt x="0" y="0"/>
                  </a:moveTo>
                  <a:lnTo>
                    <a:pt x="4203700" y="0"/>
                  </a:lnTo>
                  <a:lnTo>
                    <a:pt x="4203700" y="1800225"/>
                  </a:lnTo>
                  <a:lnTo>
                    <a:pt x="0" y="1800225"/>
                  </a:lnTo>
                  <a:lnTo>
                    <a:pt x="0" y="0"/>
                  </a:lnTo>
                  <a:close/>
                </a:path>
              </a:pathLst>
            </a:custGeom>
            <a:blipFill>
              <a:blip r:embed="rId2"/>
              <a:stretch>
                <a:fillRect b="-75"/>
              </a:stretch>
            </a:blipFill>
          </p:spPr>
        </p:sp>
      </p:grpSp>
      <p:grpSp>
        <p:nvGrpSpPr>
          <p:cNvPr id="4" name="Group 4"/>
          <p:cNvGrpSpPr/>
          <p:nvPr/>
        </p:nvGrpSpPr>
        <p:grpSpPr>
          <a:xfrm>
            <a:off x="0" y="10217944"/>
            <a:ext cx="18288000" cy="69056"/>
            <a:chOff x="0" y="0"/>
            <a:chExt cx="24384000" cy="92075"/>
          </a:xfrm>
        </p:grpSpPr>
        <p:sp>
          <p:nvSpPr>
            <p:cNvPr id="5" name="Freeform 5"/>
            <p:cNvSpPr/>
            <p:nvPr/>
          </p:nvSpPr>
          <p:spPr>
            <a:xfrm>
              <a:off x="0" y="0"/>
              <a:ext cx="24384000" cy="92075"/>
            </a:xfrm>
            <a:custGeom>
              <a:avLst/>
              <a:gdLst/>
              <a:ahLst/>
              <a:cxnLst/>
              <a:rect l="l" t="t" r="r" b="b"/>
              <a:pathLst>
                <a:path w="24384000" h="92075">
                  <a:moveTo>
                    <a:pt x="0" y="0"/>
                  </a:moveTo>
                  <a:lnTo>
                    <a:pt x="24384000" y="0"/>
                  </a:lnTo>
                  <a:lnTo>
                    <a:pt x="24384000" y="92075"/>
                  </a:lnTo>
                  <a:lnTo>
                    <a:pt x="0" y="92075"/>
                  </a:lnTo>
                  <a:close/>
                </a:path>
              </a:pathLst>
            </a:custGeom>
            <a:solidFill>
              <a:srgbClr val="BA2532"/>
            </a:solidFill>
          </p:spPr>
        </p:sp>
      </p:grpSp>
      <p:grpSp>
        <p:nvGrpSpPr>
          <p:cNvPr id="6" name="Group 6"/>
          <p:cNvGrpSpPr/>
          <p:nvPr/>
        </p:nvGrpSpPr>
        <p:grpSpPr>
          <a:xfrm>
            <a:off x="0" y="0"/>
            <a:ext cx="18288000" cy="69056"/>
            <a:chOff x="0" y="0"/>
            <a:chExt cx="24384000" cy="92075"/>
          </a:xfrm>
        </p:grpSpPr>
        <p:sp>
          <p:nvSpPr>
            <p:cNvPr id="7" name="Freeform 7"/>
            <p:cNvSpPr/>
            <p:nvPr/>
          </p:nvSpPr>
          <p:spPr>
            <a:xfrm>
              <a:off x="0" y="0"/>
              <a:ext cx="24384000" cy="92075"/>
            </a:xfrm>
            <a:custGeom>
              <a:avLst/>
              <a:gdLst/>
              <a:ahLst/>
              <a:cxnLst/>
              <a:rect l="l" t="t" r="r" b="b"/>
              <a:pathLst>
                <a:path w="24384000" h="92075">
                  <a:moveTo>
                    <a:pt x="0" y="0"/>
                  </a:moveTo>
                  <a:lnTo>
                    <a:pt x="24384000" y="0"/>
                  </a:lnTo>
                  <a:lnTo>
                    <a:pt x="24384000" y="92075"/>
                  </a:lnTo>
                  <a:lnTo>
                    <a:pt x="0" y="92075"/>
                  </a:lnTo>
                  <a:close/>
                </a:path>
              </a:pathLst>
            </a:custGeom>
            <a:solidFill>
              <a:srgbClr val="BA2532"/>
            </a:solidFill>
          </p:spPr>
        </p:sp>
      </p:grpSp>
      <p:grpSp>
        <p:nvGrpSpPr>
          <p:cNvPr id="10" name="Group 10"/>
          <p:cNvGrpSpPr/>
          <p:nvPr/>
        </p:nvGrpSpPr>
        <p:grpSpPr>
          <a:xfrm>
            <a:off x="5594642" y="322983"/>
            <a:ext cx="7098725" cy="794899"/>
            <a:chOff x="0" y="0"/>
            <a:chExt cx="9464967" cy="1059866"/>
          </a:xfrm>
        </p:grpSpPr>
        <p:sp>
          <p:nvSpPr>
            <p:cNvPr id="11" name="Freeform 11"/>
            <p:cNvSpPr/>
            <p:nvPr/>
          </p:nvSpPr>
          <p:spPr>
            <a:xfrm>
              <a:off x="0" y="0"/>
              <a:ext cx="9464928" cy="1059942"/>
            </a:xfrm>
            <a:custGeom>
              <a:avLst/>
              <a:gdLst/>
              <a:ahLst/>
              <a:cxnLst/>
              <a:rect l="l" t="t" r="r" b="b"/>
              <a:pathLst>
                <a:path w="9464928" h="1059942">
                  <a:moveTo>
                    <a:pt x="0" y="176657"/>
                  </a:moveTo>
                  <a:cubicBezTo>
                    <a:pt x="0" y="79121"/>
                    <a:pt x="79121" y="0"/>
                    <a:pt x="176657" y="0"/>
                  </a:cubicBezTo>
                  <a:lnTo>
                    <a:pt x="9288272" y="0"/>
                  </a:lnTo>
                  <a:cubicBezTo>
                    <a:pt x="9385808" y="0"/>
                    <a:pt x="9464928" y="79121"/>
                    <a:pt x="9464928" y="176657"/>
                  </a:cubicBezTo>
                  <a:lnTo>
                    <a:pt x="9464928" y="883285"/>
                  </a:lnTo>
                  <a:cubicBezTo>
                    <a:pt x="9464928" y="980821"/>
                    <a:pt x="9385808" y="1059942"/>
                    <a:pt x="9288272" y="1059942"/>
                  </a:cubicBezTo>
                  <a:lnTo>
                    <a:pt x="176657" y="1059942"/>
                  </a:lnTo>
                  <a:cubicBezTo>
                    <a:pt x="79121" y="1059815"/>
                    <a:pt x="0" y="980821"/>
                    <a:pt x="0" y="883285"/>
                  </a:cubicBezTo>
                  <a:close/>
                </a:path>
              </a:pathLst>
            </a:custGeom>
            <a:solidFill>
              <a:srgbClr val="C00000"/>
            </a:solidFill>
            <a:ln w="19050" cap="sq">
              <a:solidFill>
                <a:srgbClr val="172C51"/>
              </a:solidFill>
              <a:prstDash val="solid"/>
              <a:miter/>
            </a:ln>
          </p:spPr>
        </p:sp>
      </p:grpSp>
      <p:graphicFrame>
        <p:nvGraphicFramePr>
          <p:cNvPr id="12" name="Table 12"/>
          <p:cNvGraphicFramePr>
            <a:graphicFrameLocks noGrp="1"/>
          </p:cNvGraphicFramePr>
          <p:nvPr/>
        </p:nvGraphicFramePr>
        <p:xfrm>
          <a:off x="5378167" y="3210708"/>
          <a:ext cx="7315200" cy="4114800"/>
        </p:xfrm>
        <a:graphic>
          <a:graphicData uri="http://schemas.openxmlformats.org/drawingml/2006/table">
            <a:tbl>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tblGrid>
              <a:tr h="1028700">
                <a:tc>
                  <a:txBody>
                    <a:bodyPr/>
                    <a:lstStyle/>
                    <a:p>
                      <a:pPr algn="ctr">
                        <a:lnSpc>
                          <a:spcPts val="2520"/>
                        </a:lnSpc>
                        <a:defRPr/>
                      </a:pPr>
                      <a:r>
                        <a:rPr lang="en-US" sz="1800" b="1">
                          <a:solidFill>
                            <a:srgbClr val="000000"/>
                          </a:solidFill>
                          <a:latin typeface="Calibri (MS) Bold"/>
                          <a:ea typeface="Calibri (MS) Bold"/>
                          <a:cs typeface="Calibri (MS) Bold"/>
                          <a:sym typeface="Calibri (MS) Bold"/>
                        </a:rPr>
                        <a:t>Existing Approach</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379"/>
                        </a:lnSpc>
                        <a:defRPr/>
                      </a:pPr>
                      <a:r>
                        <a:rPr lang="en-US" sz="1699" b="1">
                          <a:solidFill>
                            <a:srgbClr val="000000"/>
                          </a:solidFill>
                          <a:latin typeface="Arimo Bold"/>
                          <a:ea typeface="Arimo Bold"/>
                          <a:cs typeface="Arimo Bold"/>
                          <a:sym typeface="Arimo Bold"/>
                        </a:rPr>
                        <a:t>Technique Used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b="1">
                          <a:solidFill>
                            <a:srgbClr val="000000"/>
                          </a:solidFill>
                          <a:latin typeface="Calibri (MS) Bold"/>
                          <a:ea typeface="Calibri (MS) Bold"/>
                          <a:cs typeface="Calibri (MS) Bold"/>
                          <a:sym typeface="Calibri (MS) Bold"/>
                        </a:rPr>
                        <a:t>Limitation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28700">
                <a:tc>
                  <a:txBody>
                    <a:bodyPr/>
                    <a:lstStyle/>
                    <a:p>
                      <a:pPr algn="l">
                        <a:lnSpc>
                          <a:spcPts val="1959"/>
                        </a:lnSpc>
                        <a:defRPr/>
                      </a:pPr>
                      <a:r>
                        <a:rPr lang="en-US" sz="1399">
                          <a:solidFill>
                            <a:srgbClr val="000000"/>
                          </a:solidFill>
                          <a:latin typeface="Canva Sans"/>
                          <a:ea typeface="Canva Sans"/>
                          <a:cs typeface="Canva Sans"/>
                          <a:sym typeface="Canva Sans"/>
                        </a:rPr>
                        <a:t>News Aggregation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Arimo"/>
                          <a:ea typeface="Arimo"/>
                          <a:cs typeface="Arimo"/>
                          <a:sym typeface="Arimo"/>
                        </a:rPr>
                        <a:t>Keyword/Search</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nva Sans"/>
                          <a:ea typeface="Canva Sans"/>
                          <a:cs typeface="Canva Sans"/>
                          <a:sym typeface="Canva Sans"/>
                        </a:rPr>
                        <a:t>Limited relationship detection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28700">
                <a:tc>
                  <a:txBody>
                    <a:bodyPr/>
                    <a:lstStyle/>
                    <a:p>
                      <a:pPr algn="ctr">
                        <a:lnSpc>
                          <a:spcPts val="2520"/>
                        </a:lnSpc>
                        <a:defRPr/>
                      </a:pPr>
                      <a:r>
                        <a:rPr lang="en-US" sz="1800">
                          <a:solidFill>
                            <a:srgbClr val="000000"/>
                          </a:solidFill>
                          <a:latin typeface="Calibri (MS)"/>
                          <a:ea typeface="Calibri (MS)"/>
                          <a:cs typeface="Calibri (MS)"/>
                          <a:sym typeface="Calibri (MS)"/>
                        </a:rPr>
                        <a:t>Duplicate Detection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nva Sans"/>
                          <a:ea typeface="Canva Sans"/>
                          <a:cs typeface="Canva Sans"/>
                          <a:sym typeface="Canva Sans"/>
                        </a:rPr>
                        <a:t>Hashing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Arimo"/>
                          <a:ea typeface="Arimo"/>
                          <a:cs typeface="Arimo"/>
                          <a:sym typeface="Arimo"/>
                        </a:rPr>
                        <a:t>Mainly focuses on exact matches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28700">
                <a:tc>
                  <a:txBody>
                    <a:bodyPr/>
                    <a:lstStyle/>
                    <a:p>
                      <a:pPr algn="l">
                        <a:lnSpc>
                          <a:spcPts val="1959"/>
                        </a:lnSpc>
                        <a:defRPr/>
                      </a:pPr>
                      <a:r>
                        <a:rPr lang="en-US" sz="1399">
                          <a:solidFill>
                            <a:srgbClr val="000000"/>
                          </a:solidFill>
                          <a:latin typeface="Canva Sans"/>
                          <a:ea typeface="Canva Sans"/>
                          <a:cs typeface="Canva Sans"/>
                          <a:sym typeface="Canva Sans"/>
                        </a:rPr>
                        <a:t>Trending Analysis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Arimo"/>
                          <a:ea typeface="Arimo"/>
                          <a:cs typeface="Arimo"/>
                          <a:sym typeface="Arimo"/>
                        </a:rPr>
                        <a:t>Frequency/Ranking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nva Sans"/>
                          <a:ea typeface="Canva Sans"/>
                          <a:cs typeface="Canva Sans"/>
                          <a:sym typeface="Canva Sans"/>
                        </a:rPr>
                        <a:t>May not capture relationships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3" name="TextBox 13"/>
          <p:cNvSpPr txBox="1"/>
          <p:nvPr/>
        </p:nvSpPr>
        <p:spPr>
          <a:xfrm>
            <a:off x="4081548" y="250946"/>
            <a:ext cx="10124904" cy="871452"/>
          </a:xfrm>
          <a:prstGeom prst="rect">
            <a:avLst/>
          </a:prstGeom>
        </p:spPr>
        <p:txBody>
          <a:bodyPr lIns="0" tIns="0" rIns="0" bIns="0" rtlCol="0" anchor="t">
            <a:spAutoFit/>
          </a:bodyPr>
          <a:lstStyle/>
          <a:p>
            <a:pPr algn="ctr">
              <a:lnSpc>
                <a:spcPts val="5759"/>
              </a:lnSpc>
            </a:pPr>
            <a:r>
              <a:rPr lang="en-US" sz="4800" b="1">
                <a:solidFill>
                  <a:srgbClr val="FFFFFF"/>
                </a:solidFill>
                <a:latin typeface="Calibri (MS) Bold"/>
                <a:ea typeface="Calibri (MS) Bold"/>
                <a:cs typeface="Calibri (MS) Bold"/>
                <a:sym typeface="Calibri (MS) Bold"/>
              </a:rPr>
              <a:t>Literature Survey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E5D6"/>
        </a:solidFill>
        <a:effectLst/>
      </p:bgPr>
    </p:bg>
    <p:spTree>
      <p:nvGrpSpPr>
        <p:cNvPr id="1" name=""/>
        <p:cNvGrpSpPr/>
        <p:nvPr/>
      </p:nvGrpSpPr>
      <p:grpSpPr>
        <a:xfrm>
          <a:off x="0" y="0"/>
          <a:ext cx="0" cy="0"/>
          <a:chOff x="0" y="0"/>
          <a:chExt cx="0" cy="0"/>
        </a:xfrm>
      </p:grpSpPr>
      <p:grpSp>
        <p:nvGrpSpPr>
          <p:cNvPr id="2" name="Group 2"/>
          <p:cNvGrpSpPr/>
          <p:nvPr/>
        </p:nvGrpSpPr>
        <p:grpSpPr>
          <a:xfrm>
            <a:off x="0" y="66675"/>
            <a:ext cx="3152775" cy="1350169"/>
            <a:chOff x="0" y="0"/>
            <a:chExt cx="4203700" cy="1800225"/>
          </a:xfrm>
        </p:grpSpPr>
        <p:sp>
          <p:nvSpPr>
            <p:cNvPr id="3" name="Freeform 3" descr="KL University Hyderabad"/>
            <p:cNvSpPr/>
            <p:nvPr/>
          </p:nvSpPr>
          <p:spPr>
            <a:xfrm>
              <a:off x="0" y="0"/>
              <a:ext cx="4203700" cy="1800225"/>
            </a:xfrm>
            <a:custGeom>
              <a:avLst/>
              <a:gdLst/>
              <a:ahLst/>
              <a:cxnLst/>
              <a:rect l="l" t="t" r="r" b="b"/>
              <a:pathLst>
                <a:path w="4203700" h="1800225">
                  <a:moveTo>
                    <a:pt x="0" y="0"/>
                  </a:moveTo>
                  <a:lnTo>
                    <a:pt x="4203700" y="0"/>
                  </a:lnTo>
                  <a:lnTo>
                    <a:pt x="4203700" y="1800225"/>
                  </a:lnTo>
                  <a:lnTo>
                    <a:pt x="0" y="1800225"/>
                  </a:lnTo>
                  <a:lnTo>
                    <a:pt x="0" y="0"/>
                  </a:lnTo>
                  <a:close/>
                </a:path>
              </a:pathLst>
            </a:custGeom>
            <a:blipFill>
              <a:blip r:embed="rId2"/>
              <a:stretch>
                <a:fillRect b="-75"/>
              </a:stretch>
            </a:blipFill>
          </p:spPr>
        </p:sp>
      </p:grpSp>
      <p:grpSp>
        <p:nvGrpSpPr>
          <p:cNvPr id="4" name="Group 4"/>
          <p:cNvGrpSpPr/>
          <p:nvPr/>
        </p:nvGrpSpPr>
        <p:grpSpPr>
          <a:xfrm>
            <a:off x="0" y="10217944"/>
            <a:ext cx="18288000" cy="69056"/>
            <a:chOff x="0" y="0"/>
            <a:chExt cx="24384000" cy="92075"/>
          </a:xfrm>
        </p:grpSpPr>
        <p:sp>
          <p:nvSpPr>
            <p:cNvPr id="5" name="Freeform 5"/>
            <p:cNvSpPr/>
            <p:nvPr/>
          </p:nvSpPr>
          <p:spPr>
            <a:xfrm>
              <a:off x="0" y="0"/>
              <a:ext cx="24384000" cy="92075"/>
            </a:xfrm>
            <a:custGeom>
              <a:avLst/>
              <a:gdLst/>
              <a:ahLst/>
              <a:cxnLst/>
              <a:rect l="l" t="t" r="r" b="b"/>
              <a:pathLst>
                <a:path w="24384000" h="92075">
                  <a:moveTo>
                    <a:pt x="0" y="0"/>
                  </a:moveTo>
                  <a:lnTo>
                    <a:pt x="24384000" y="0"/>
                  </a:lnTo>
                  <a:lnTo>
                    <a:pt x="24384000" y="92075"/>
                  </a:lnTo>
                  <a:lnTo>
                    <a:pt x="0" y="92075"/>
                  </a:lnTo>
                  <a:close/>
                </a:path>
              </a:pathLst>
            </a:custGeom>
            <a:solidFill>
              <a:srgbClr val="BA2532"/>
            </a:solidFill>
          </p:spPr>
        </p:sp>
      </p:grpSp>
      <p:grpSp>
        <p:nvGrpSpPr>
          <p:cNvPr id="6" name="Group 6"/>
          <p:cNvGrpSpPr/>
          <p:nvPr/>
        </p:nvGrpSpPr>
        <p:grpSpPr>
          <a:xfrm>
            <a:off x="0" y="0"/>
            <a:ext cx="18288000" cy="69056"/>
            <a:chOff x="0" y="0"/>
            <a:chExt cx="24384000" cy="92075"/>
          </a:xfrm>
        </p:grpSpPr>
        <p:sp>
          <p:nvSpPr>
            <p:cNvPr id="7" name="Freeform 7"/>
            <p:cNvSpPr/>
            <p:nvPr/>
          </p:nvSpPr>
          <p:spPr>
            <a:xfrm>
              <a:off x="0" y="0"/>
              <a:ext cx="24384000" cy="92075"/>
            </a:xfrm>
            <a:custGeom>
              <a:avLst/>
              <a:gdLst/>
              <a:ahLst/>
              <a:cxnLst/>
              <a:rect l="l" t="t" r="r" b="b"/>
              <a:pathLst>
                <a:path w="24384000" h="92075">
                  <a:moveTo>
                    <a:pt x="0" y="0"/>
                  </a:moveTo>
                  <a:lnTo>
                    <a:pt x="24384000" y="0"/>
                  </a:lnTo>
                  <a:lnTo>
                    <a:pt x="24384000" y="92075"/>
                  </a:lnTo>
                  <a:lnTo>
                    <a:pt x="0" y="92075"/>
                  </a:lnTo>
                  <a:close/>
                </a:path>
              </a:pathLst>
            </a:custGeom>
            <a:solidFill>
              <a:srgbClr val="BA2532"/>
            </a:solidFill>
          </p:spPr>
        </p:sp>
      </p:grpSp>
      <p:grpSp>
        <p:nvGrpSpPr>
          <p:cNvPr id="10" name="Group 10"/>
          <p:cNvGrpSpPr/>
          <p:nvPr/>
        </p:nvGrpSpPr>
        <p:grpSpPr>
          <a:xfrm>
            <a:off x="3980583" y="322983"/>
            <a:ext cx="10104491" cy="1002744"/>
            <a:chOff x="0" y="0"/>
            <a:chExt cx="13472655" cy="1336992"/>
          </a:xfrm>
        </p:grpSpPr>
        <p:sp>
          <p:nvSpPr>
            <p:cNvPr id="11" name="Freeform 11"/>
            <p:cNvSpPr/>
            <p:nvPr/>
          </p:nvSpPr>
          <p:spPr>
            <a:xfrm>
              <a:off x="0" y="0"/>
              <a:ext cx="13472669" cy="1337056"/>
            </a:xfrm>
            <a:custGeom>
              <a:avLst/>
              <a:gdLst/>
              <a:ahLst/>
              <a:cxnLst/>
              <a:rect l="l" t="t" r="r" b="b"/>
              <a:pathLst>
                <a:path w="13472669" h="1337056">
                  <a:moveTo>
                    <a:pt x="0" y="222885"/>
                  </a:moveTo>
                  <a:cubicBezTo>
                    <a:pt x="0" y="99822"/>
                    <a:pt x="99822" y="0"/>
                    <a:pt x="222885" y="0"/>
                  </a:cubicBezTo>
                  <a:lnTo>
                    <a:pt x="13249783" y="0"/>
                  </a:lnTo>
                  <a:cubicBezTo>
                    <a:pt x="13372846" y="0"/>
                    <a:pt x="13472669" y="99822"/>
                    <a:pt x="13472669" y="222885"/>
                  </a:cubicBezTo>
                  <a:lnTo>
                    <a:pt x="13472669" y="1114171"/>
                  </a:lnTo>
                  <a:cubicBezTo>
                    <a:pt x="13472669" y="1237234"/>
                    <a:pt x="13372846" y="1337056"/>
                    <a:pt x="13249783" y="1337056"/>
                  </a:cubicBezTo>
                  <a:lnTo>
                    <a:pt x="222885" y="1337056"/>
                  </a:lnTo>
                  <a:cubicBezTo>
                    <a:pt x="99822" y="1336929"/>
                    <a:pt x="0" y="1237234"/>
                    <a:pt x="0" y="1114171"/>
                  </a:cubicBezTo>
                  <a:close/>
                </a:path>
              </a:pathLst>
            </a:custGeom>
            <a:solidFill>
              <a:srgbClr val="C00000"/>
            </a:solidFill>
            <a:ln w="19050" cap="sq">
              <a:solidFill>
                <a:srgbClr val="172C51"/>
              </a:solidFill>
              <a:prstDash val="solid"/>
              <a:miter/>
            </a:ln>
          </p:spPr>
        </p:sp>
      </p:grpSp>
      <p:sp>
        <p:nvSpPr>
          <p:cNvPr id="12" name="TextBox 12"/>
          <p:cNvSpPr txBox="1"/>
          <p:nvPr/>
        </p:nvSpPr>
        <p:spPr>
          <a:xfrm>
            <a:off x="4081548" y="399040"/>
            <a:ext cx="10124904" cy="871452"/>
          </a:xfrm>
          <a:prstGeom prst="rect">
            <a:avLst/>
          </a:prstGeom>
        </p:spPr>
        <p:txBody>
          <a:bodyPr lIns="0" tIns="0" rIns="0" bIns="0" rtlCol="0" anchor="t">
            <a:spAutoFit/>
          </a:bodyPr>
          <a:lstStyle/>
          <a:p>
            <a:pPr algn="ctr">
              <a:lnSpc>
                <a:spcPts val="5759"/>
              </a:lnSpc>
            </a:pPr>
            <a:r>
              <a:rPr lang="en-US" sz="4800" b="1">
                <a:solidFill>
                  <a:srgbClr val="FFFFFF"/>
                </a:solidFill>
                <a:latin typeface="Calibri (MS) Bold"/>
                <a:ea typeface="Calibri (MS) Bold"/>
                <a:cs typeface="Calibri (MS) Bold"/>
                <a:sym typeface="Calibri (MS) Bold"/>
              </a:rPr>
              <a:t>Problem Statement and Objectives</a:t>
            </a:r>
          </a:p>
        </p:txBody>
      </p:sp>
      <p:sp>
        <p:nvSpPr>
          <p:cNvPr id="13" name="TextBox 13"/>
          <p:cNvSpPr txBox="1"/>
          <p:nvPr/>
        </p:nvSpPr>
        <p:spPr>
          <a:xfrm>
            <a:off x="319176" y="4714875"/>
            <a:ext cx="17427306" cy="790575"/>
          </a:xfrm>
          <a:prstGeom prst="rect">
            <a:avLst/>
          </a:prstGeom>
        </p:spPr>
        <p:txBody>
          <a:bodyPr lIns="0" tIns="0" rIns="0" bIns="0" rtlCol="0" anchor="t">
            <a:spAutoFit/>
          </a:bodyPr>
          <a:lstStyle/>
          <a:p>
            <a:pPr algn="ctr">
              <a:lnSpc>
                <a:spcPts val="2965"/>
              </a:lnSpc>
              <a:spcBef>
                <a:spcPct val="0"/>
              </a:spcBef>
            </a:pPr>
            <a:r>
              <a:rPr lang="en-US" sz="2471" b="1">
                <a:solidFill>
                  <a:srgbClr val="000000"/>
                </a:solidFill>
                <a:latin typeface="Calibri (MS) Bold"/>
                <a:ea typeface="Calibri (MS) Bold"/>
                <a:cs typeface="Calibri (MS) Bold"/>
                <a:sym typeface="Calibri (MS) Bold"/>
              </a:rPr>
              <a:t>Manually processing large volumes of news and social media content is inefficient because duplicate posts, unranked stories and unrelated content make it difficult to identify relevant information in real time.</a:t>
            </a:r>
          </a:p>
        </p:txBody>
      </p:sp>
      <p:sp>
        <p:nvSpPr>
          <p:cNvPr id="14" name="TextBox 14"/>
          <p:cNvSpPr txBox="1"/>
          <p:nvPr/>
        </p:nvSpPr>
        <p:spPr>
          <a:xfrm>
            <a:off x="4714080" y="5845787"/>
            <a:ext cx="8014733" cy="2486025"/>
          </a:xfrm>
          <a:prstGeom prst="rect">
            <a:avLst/>
          </a:prstGeom>
        </p:spPr>
        <p:txBody>
          <a:bodyPr lIns="0" tIns="0" rIns="0" bIns="0" rtlCol="0" anchor="t">
            <a:spAutoFit/>
          </a:bodyPr>
          <a:lstStyle/>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Detect duplicate and near-duplicate conten</a:t>
            </a:r>
          </a:p>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Process incoming posts efficiently</a:t>
            </a:r>
          </a:p>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Rank trending and important stories</a:t>
            </a:r>
          </a:p>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Cluster related news articles</a:t>
            </a:r>
          </a:p>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Search &amp; sort content efficiently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E5D6"/>
        </a:solidFill>
        <a:effectLst/>
      </p:bgPr>
    </p:bg>
    <p:spTree>
      <p:nvGrpSpPr>
        <p:cNvPr id="1" name=""/>
        <p:cNvGrpSpPr/>
        <p:nvPr/>
      </p:nvGrpSpPr>
      <p:grpSpPr>
        <a:xfrm>
          <a:off x="0" y="0"/>
          <a:ext cx="0" cy="0"/>
          <a:chOff x="0" y="0"/>
          <a:chExt cx="0" cy="0"/>
        </a:xfrm>
      </p:grpSpPr>
      <p:grpSp>
        <p:nvGrpSpPr>
          <p:cNvPr id="2" name="Group 2"/>
          <p:cNvGrpSpPr/>
          <p:nvPr/>
        </p:nvGrpSpPr>
        <p:grpSpPr>
          <a:xfrm>
            <a:off x="0" y="66675"/>
            <a:ext cx="3152775" cy="1350169"/>
            <a:chOff x="0" y="0"/>
            <a:chExt cx="4203700" cy="1800225"/>
          </a:xfrm>
        </p:grpSpPr>
        <p:sp>
          <p:nvSpPr>
            <p:cNvPr id="3" name="Freeform 3" descr="KL University Hyderabad"/>
            <p:cNvSpPr/>
            <p:nvPr/>
          </p:nvSpPr>
          <p:spPr>
            <a:xfrm>
              <a:off x="0" y="0"/>
              <a:ext cx="4203700" cy="1800225"/>
            </a:xfrm>
            <a:custGeom>
              <a:avLst/>
              <a:gdLst/>
              <a:ahLst/>
              <a:cxnLst/>
              <a:rect l="l" t="t" r="r" b="b"/>
              <a:pathLst>
                <a:path w="4203700" h="1800225">
                  <a:moveTo>
                    <a:pt x="0" y="0"/>
                  </a:moveTo>
                  <a:lnTo>
                    <a:pt x="4203700" y="0"/>
                  </a:lnTo>
                  <a:lnTo>
                    <a:pt x="4203700" y="1800225"/>
                  </a:lnTo>
                  <a:lnTo>
                    <a:pt x="0" y="1800225"/>
                  </a:lnTo>
                  <a:lnTo>
                    <a:pt x="0" y="0"/>
                  </a:lnTo>
                  <a:close/>
                </a:path>
              </a:pathLst>
            </a:custGeom>
            <a:blipFill>
              <a:blip r:embed="rId2"/>
              <a:stretch>
                <a:fillRect b="-75"/>
              </a:stretch>
            </a:blipFill>
          </p:spPr>
        </p:sp>
      </p:grpSp>
      <p:grpSp>
        <p:nvGrpSpPr>
          <p:cNvPr id="4" name="Group 4"/>
          <p:cNvGrpSpPr/>
          <p:nvPr/>
        </p:nvGrpSpPr>
        <p:grpSpPr>
          <a:xfrm>
            <a:off x="0" y="10217944"/>
            <a:ext cx="18288000" cy="69056"/>
            <a:chOff x="0" y="0"/>
            <a:chExt cx="24384000" cy="92075"/>
          </a:xfrm>
        </p:grpSpPr>
        <p:sp>
          <p:nvSpPr>
            <p:cNvPr id="5" name="Freeform 5"/>
            <p:cNvSpPr/>
            <p:nvPr/>
          </p:nvSpPr>
          <p:spPr>
            <a:xfrm>
              <a:off x="0" y="0"/>
              <a:ext cx="24384000" cy="92075"/>
            </a:xfrm>
            <a:custGeom>
              <a:avLst/>
              <a:gdLst/>
              <a:ahLst/>
              <a:cxnLst/>
              <a:rect l="l" t="t" r="r" b="b"/>
              <a:pathLst>
                <a:path w="24384000" h="92075">
                  <a:moveTo>
                    <a:pt x="0" y="0"/>
                  </a:moveTo>
                  <a:lnTo>
                    <a:pt x="24384000" y="0"/>
                  </a:lnTo>
                  <a:lnTo>
                    <a:pt x="24384000" y="92075"/>
                  </a:lnTo>
                  <a:lnTo>
                    <a:pt x="0" y="92075"/>
                  </a:lnTo>
                  <a:close/>
                </a:path>
              </a:pathLst>
            </a:custGeom>
            <a:solidFill>
              <a:srgbClr val="BA2532"/>
            </a:solidFill>
          </p:spPr>
        </p:sp>
      </p:grpSp>
      <p:grpSp>
        <p:nvGrpSpPr>
          <p:cNvPr id="6" name="Group 6"/>
          <p:cNvGrpSpPr/>
          <p:nvPr/>
        </p:nvGrpSpPr>
        <p:grpSpPr>
          <a:xfrm>
            <a:off x="0" y="0"/>
            <a:ext cx="18288000" cy="69056"/>
            <a:chOff x="0" y="0"/>
            <a:chExt cx="24384000" cy="92075"/>
          </a:xfrm>
        </p:grpSpPr>
        <p:sp>
          <p:nvSpPr>
            <p:cNvPr id="7" name="Freeform 7"/>
            <p:cNvSpPr/>
            <p:nvPr/>
          </p:nvSpPr>
          <p:spPr>
            <a:xfrm>
              <a:off x="0" y="0"/>
              <a:ext cx="24384000" cy="92075"/>
            </a:xfrm>
            <a:custGeom>
              <a:avLst/>
              <a:gdLst/>
              <a:ahLst/>
              <a:cxnLst/>
              <a:rect l="l" t="t" r="r" b="b"/>
              <a:pathLst>
                <a:path w="24384000" h="92075">
                  <a:moveTo>
                    <a:pt x="0" y="0"/>
                  </a:moveTo>
                  <a:lnTo>
                    <a:pt x="24384000" y="0"/>
                  </a:lnTo>
                  <a:lnTo>
                    <a:pt x="24384000" y="92075"/>
                  </a:lnTo>
                  <a:lnTo>
                    <a:pt x="0" y="92075"/>
                  </a:lnTo>
                  <a:close/>
                </a:path>
              </a:pathLst>
            </a:custGeom>
            <a:solidFill>
              <a:srgbClr val="BA2532"/>
            </a:solidFill>
          </p:spPr>
        </p:sp>
      </p:grpSp>
      <p:grpSp>
        <p:nvGrpSpPr>
          <p:cNvPr id="10" name="Group 10"/>
          <p:cNvGrpSpPr/>
          <p:nvPr/>
        </p:nvGrpSpPr>
        <p:grpSpPr>
          <a:xfrm>
            <a:off x="5594642" y="322983"/>
            <a:ext cx="7098725" cy="794899"/>
            <a:chOff x="0" y="0"/>
            <a:chExt cx="9464967" cy="1059866"/>
          </a:xfrm>
        </p:grpSpPr>
        <p:sp>
          <p:nvSpPr>
            <p:cNvPr id="11" name="Freeform 11"/>
            <p:cNvSpPr/>
            <p:nvPr/>
          </p:nvSpPr>
          <p:spPr>
            <a:xfrm>
              <a:off x="0" y="0"/>
              <a:ext cx="9464928" cy="1059942"/>
            </a:xfrm>
            <a:custGeom>
              <a:avLst/>
              <a:gdLst/>
              <a:ahLst/>
              <a:cxnLst/>
              <a:rect l="l" t="t" r="r" b="b"/>
              <a:pathLst>
                <a:path w="9464928" h="1059942">
                  <a:moveTo>
                    <a:pt x="0" y="176657"/>
                  </a:moveTo>
                  <a:cubicBezTo>
                    <a:pt x="0" y="79121"/>
                    <a:pt x="79121" y="0"/>
                    <a:pt x="176657" y="0"/>
                  </a:cubicBezTo>
                  <a:lnTo>
                    <a:pt x="9288272" y="0"/>
                  </a:lnTo>
                  <a:cubicBezTo>
                    <a:pt x="9385808" y="0"/>
                    <a:pt x="9464928" y="79121"/>
                    <a:pt x="9464928" y="176657"/>
                  </a:cubicBezTo>
                  <a:lnTo>
                    <a:pt x="9464928" y="883285"/>
                  </a:lnTo>
                  <a:cubicBezTo>
                    <a:pt x="9464928" y="980821"/>
                    <a:pt x="9385808" y="1059942"/>
                    <a:pt x="9288272" y="1059942"/>
                  </a:cubicBezTo>
                  <a:lnTo>
                    <a:pt x="176657" y="1059942"/>
                  </a:lnTo>
                  <a:cubicBezTo>
                    <a:pt x="79121" y="1059815"/>
                    <a:pt x="0" y="980821"/>
                    <a:pt x="0" y="883285"/>
                  </a:cubicBezTo>
                  <a:close/>
                </a:path>
              </a:pathLst>
            </a:custGeom>
            <a:solidFill>
              <a:srgbClr val="C00000"/>
            </a:solidFill>
            <a:ln w="19050" cap="sq">
              <a:solidFill>
                <a:srgbClr val="172C51"/>
              </a:solidFill>
              <a:prstDash val="solid"/>
              <a:miter/>
            </a:ln>
          </p:spPr>
        </p:sp>
      </p:grpSp>
      <p:sp>
        <p:nvSpPr>
          <p:cNvPr id="12" name="TextBox 12"/>
          <p:cNvSpPr txBox="1"/>
          <p:nvPr/>
        </p:nvSpPr>
        <p:spPr>
          <a:xfrm>
            <a:off x="4081548" y="250946"/>
            <a:ext cx="10124904" cy="871452"/>
          </a:xfrm>
          <a:prstGeom prst="rect">
            <a:avLst/>
          </a:prstGeom>
        </p:spPr>
        <p:txBody>
          <a:bodyPr lIns="0" tIns="0" rIns="0" bIns="0" rtlCol="0" anchor="t">
            <a:spAutoFit/>
          </a:bodyPr>
          <a:lstStyle/>
          <a:p>
            <a:pPr algn="ctr">
              <a:lnSpc>
                <a:spcPts val="5759"/>
              </a:lnSpc>
            </a:pPr>
            <a:r>
              <a:rPr lang="en-US" sz="4800" b="1">
                <a:solidFill>
                  <a:srgbClr val="FFFFFF"/>
                </a:solidFill>
                <a:latin typeface="Calibri (MS) Bold"/>
                <a:ea typeface="Calibri (MS) Bold"/>
                <a:cs typeface="Calibri (MS) Bold"/>
                <a:sym typeface="Calibri (MS) Bold"/>
              </a:rPr>
              <a:t>Flow Chart</a:t>
            </a:r>
          </a:p>
        </p:txBody>
      </p:sp>
      <p:sp>
        <p:nvSpPr>
          <p:cNvPr id="13" name="TextBox 13"/>
          <p:cNvSpPr txBox="1"/>
          <p:nvPr/>
        </p:nvSpPr>
        <p:spPr>
          <a:xfrm>
            <a:off x="6905477" y="2205037"/>
            <a:ext cx="3717578" cy="6334125"/>
          </a:xfrm>
          <a:prstGeom prst="rect">
            <a:avLst/>
          </a:prstGeom>
        </p:spPr>
        <p:txBody>
          <a:bodyPr lIns="0" tIns="0" rIns="0" bIns="0" rtlCol="0" anchor="t">
            <a:spAutoFit/>
          </a:bodyPr>
          <a:lstStyle/>
          <a:p>
            <a:pPr algn="ctr">
              <a:lnSpc>
                <a:spcPts val="2520"/>
              </a:lnSpc>
              <a:spcBef>
                <a:spcPct val="0"/>
              </a:spcBef>
            </a:pPr>
            <a:r>
              <a:rPr lang="en-US" sz="2100" b="1">
                <a:solidFill>
                  <a:srgbClr val="000000"/>
                </a:solidFill>
                <a:latin typeface="Calibri (MS) Bold"/>
                <a:ea typeface="Calibri (MS) Bold"/>
                <a:cs typeface="Calibri (MS) Bold"/>
                <a:sym typeface="Calibri (MS) Bold"/>
              </a:rPr>
              <a:t>News / Social Media Posts</a:t>
            </a:r>
          </a:p>
          <a:p>
            <a:pPr algn="ctr">
              <a:lnSpc>
                <a:spcPts val="2520"/>
              </a:lnSpc>
              <a:spcBef>
                <a:spcPct val="0"/>
              </a:spcBef>
            </a:pPr>
            <a:r>
              <a:rPr lang="en-US" sz="2100" b="1">
                <a:solidFill>
                  <a:srgbClr val="000000"/>
                </a:solidFill>
                <a:latin typeface="Calibri (MS) Bold"/>
                <a:ea typeface="Calibri (MS) Bold"/>
                <a:cs typeface="Calibri (MS) Bold"/>
                <a:sym typeface="Calibri (MS) Bold"/>
              </a:rPr>
              <a:t>          ↓</a:t>
            </a:r>
          </a:p>
          <a:p>
            <a:pPr algn="ctr">
              <a:lnSpc>
                <a:spcPts val="2520"/>
              </a:lnSpc>
              <a:spcBef>
                <a:spcPct val="0"/>
              </a:spcBef>
            </a:pPr>
            <a:r>
              <a:rPr lang="en-US" sz="2100" b="1">
                <a:solidFill>
                  <a:srgbClr val="000000"/>
                </a:solidFill>
                <a:latin typeface="Calibri (MS) Bold"/>
                <a:ea typeface="Calibri (MS) Bold"/>
                <a:cs typeface="Calibri (MS) Bold"/>
                <a:sym typeface="Calibri (MS) Bold"/>
              </a:rPr>
              <a:t>     Input Queue</a:t>
            </a:r>
          </a:p>
          <a:p>
            <a:pPr algn="ctr">
              <a:lnSpc>
                <a:spcPts val="2520"/>
              </a:lnSpc>
              <a:spcBef>
                <a:spcPct val="0"/>
              </a:spcBef>
            </a:pPr>
            <a:r>
              <a:rPr lang="en-US" sz="2100" b="1">
                <a:solidFill>
                  <a:srgbClr val="000000"/>
                </a:solidFill>
                <a:latin typeface="Calibri (MS) Bold"/>
                <a:ea typeface="Calibri (MS) Bold"/>
                <a:cs typeface="Calibri (MS) Bold"/>
                <a:sym typeface="Calibri (MS) Bold"/>
              </a:rPr>
              <a:t>          ↓</a:t>
            </a:r>
          </a:p>
          <a:p>
            <a:pPr algn="ctr">
              <a:lnSpc>
                <a:spcPts val="2520"/>
              </a:lnSpc>
              <a:spcBef>
                <a:spcPct val="0"/>
              </a:spcBef>
            </a:pPr>
            <a:r>
              <a:rPr lang="en-US" sz="2100" b="1">
                <a:solidFill>
                  <a:srgbClr val="000000"/>
                </a:solidFill>
                <a:latin typeface="Calibri (MS) Bold"/>
                <a:ea typeface="Calibri (MS) Bold"/>
                <a:cs typeface="Calibri (MS) Bold"/>
                <a:sym typeface="Calibri (MS) Bold"/>
              </a:rPr>
              <a:t>   Duplicate Check</a:t>
            </a:r>
          </a:p>
          <a:p>
            <a:pPr algn="ctr">
              <a:lnSpc>
                <a:spcPts val="2520"/>
              </a:lnSpc>
              <a:spcBef>
                <a:spcPct val="0"/>
              </a:spcBef>
            </a:pPr>
            <a:r>
              <a:rPr lang="en-US" sz="2100" b="1">
                <a:solidFill>
                  <a:srgbClr val="000000"/>
                </a:solidFill>
                <a:latin typeface="Calibri (MS) Bold"/>
                <a:ea typeface="Calibri (MS) Bold"/>
                <a:cs typeface="Calibri (MS) Bold"/>
                <a:sym typeface="Calibri (MS) Bold"/>
              </a:rPr>
              <a:t> ↓</a:t>
            </a:r>
          </a:p>
          <a:p>
            <a:pPr algn="ctr">
              <a:lnSpc>
                <a:spcPts val="2520"/>
              </a:lnSpc>
              <a:spcBef>
                <a:spcPct val="0"/>
              </a:spcBef>
            </a:pPr>
            <a:r>
              <a:rPr lang="en-US" sz="2100" b="1">
                <a:solidFill>
                  <a:srgbClr val="000000"/>
                </a:solidFill>
                <a:latin typeface="Calibri (MS) Bold"/>
                <a:ea typeface="Calibri (MS) Bold"/>
                <a:cs typeface="Calibri (MS) Bold"/>
                <a:sym typeface="Calibri (MS) Bold"/>
              </a:rPr>
              <a:t>    ┌──────────┐</a:t>
            </a:r>
          </a:p>
          <a:p>
            <a:pPr algn="ctr">
              <a:lnSpc>
                <a:spcPts val="2520"/>
              </a:lnSpc>
              <a:spcBef>
                <a:spcPct val="0"/>
              </a:spcBef>
            </a:pPr>
            <a:r>
              <a:rPr lang="en-US" sz="2100" b="1">
                <a:solidFill>
                  <a:srgbClr val="000000"/>
                </a:solidFill>
                <a:latin typeface="Calibri (MS) Bold"/>
                <a:ea typeface="Calibri (MS) Bold"/>
                <a:cs typeface="Calibri (MS) Bold"/>
                <a:sym typeface="Calibri (MS) Bold"/>
              </a:rPr>
              <a:t>    ↓           ↓</a:t>
            </a:r>
          </a:p>
          <a:p>
            <a:pPr algn="ctr">
              <a:lnSpc>
                <a:spcPts val="2520"/>
              </a:lnSpc>
              <a:spcBef>
                <a:spcPct val="0"/>
              </a:spcBef>
            </a:pPr>
            <a:r>
              <a:rPr lang="en-US" sz="2100" b="1">
                <a:solidFill>
                  <a:srgbClr val="000000"/>
                </a:solidFill>
                <a:latin typeface="Calibri (MS) Bold"/>
                <a:ea typeface="Calibri (MS) Bold"/>
                <a:cs typeface="Calibri (MS) Bold"/>
                <a:sym typeface="Calibri (MS) Bold"/>
              </a:rPr>
              <a:t> Hash Table   New Post</a:t>
            </a:r>
          </a:p>
          <a:p>
            <a:pPr algn="ctr">
              <a:lnSpc>
                <a:spcPts val="2520"/>
              </a:lnSpc>
              <a:spcBef>
                <a:spcPct val="0"/>
              </a:spcBef>
            </a:pPr>
            <a:r>
              <a:rPr lang="en-US" sz="2100" b="1">
                <a:solidFill>
                  <a:srgbClr val="000000"/>
                </a:solidFill>
                <a:latin typeface="Calibri (MS) Bold"/>
                <a:ea typeface="Calibri (MS) Bold"/>
                <a:cs typeface="Calibri (MS) Bold"/>
                <a:sym typeface="Calibri (MS) Bold"/>
              </a:rPr>
              <a:t>                  ↓</a:t>
            </a:r>
          </a:p>
          <a:p>
            <a:pPr algn="ctr">
              <a:lnSpc>
                <a:spcPts val="2520"/>
              </a:lnSpc>
              <a:spcBef>
                <a:spcPct val="0"/>
              </a:spcBef>
            </a:pPr>
            <a:r>
              <a:rPr lang="en-US" sz="2100" b="1">
                <a:solidFill>
                  <a:srgbClr val="000000"/>
                </a:solidFill>
                <a:latin typeface="Calibri (MS) Bold"/>
                <a:ea typeface="Calibri (MS) Bold"/>
                <a:cs typeface="Calibri (MS) Bold"/>
                <a:sym typeface="Calibri (MS) Bold"/>
              </a:rPr>
              <a:t>          Content Analysis</a:t>
            </a:r>
          </a:p>
          <a:p>
            <a:pPr algn="ctr">
              <a:lnSpc>
                <a:spcPts val="2520"/>
              </a:lnSpc>
              <a:spcBef>
                <a:spcPct val="0"/>
              </a:spcBef>
            </a:pPr>
            <a:r>
              <a:rPr lang="en-US" sz="2100" b="1">
                <a:solidFill>
                  <a:srgbClr val="000000"/>
                </a:solidFill>
                <a:latin typeface="Calibri (MS) Bold"/>
                <a:ea typeface="Calibri (MS) Bold"/>
                <a:cs typeface="Calibri (MS) Bold"/>
                <a:sym typeface="Calibri (MS) Bold"/>
              </a:rPr>
              <a:t>                  ↓</a:t>
            </a:r>
          </a:p>
          <a:p>
            <a:pPr algn="ctr">
              <a:lnSpc>
                <a:spcPts val="2520"/>
              </a:lnSpc>
              <a:spcBef>
                <a:spcPct val="0"/>
              </a:spcBef>
            </a:pPr>
            <a:r>
              <a:rPr lang="en-US" sz="2100" b="1">
                <a:solidFill>
                  <a:srgbClr val="000000"/>
                </a:solidFill>
                <a:latin typeface="Calibri (MS) Bold"/>
                <a:ea typeface="Calibri (MS) Bold"/>
                <a:cs typeface="Calibri (MS) Bold"/>
                <a:sym typeface="Calibri (MS) Bold"/>
              </a:rPr>
              <a:t>            ┌────────────────────┐</a:t>
            </a:r>
          </a:p>
          <a:p>
            <a:pPr algn="ctr">
              <a:lnSpc>
                <a:spcPts val="2520"/>
              </a:lnSpc>
              <a:spcBef>
                <a:spcPct val="0"/>
              </a:spcBef>
            </a:pPr>
            <a:r>
              <a:rPr lang="en-US" sz="2100" b="1">
                <a:solidFill>
                  <a:srgbClr val="000000"/>
                </a:solidFill>
                <a:latin typeface="Calibri (MS) Bold"/>
                <a:ea typeface="Calibri (MS) Bold"/>
                <a:cs typeface="Calibri (MS) Bold"/>
                <a:sym typeface="Calibri (MS) Bold"/>
              </a:rPr>
              <a:t>       ↓          ↓          ↓</a:t>
            </a:r>
          </a:p>
          <a:p>
            <a:pPr algn="ctr">
              <a:lnSpc>
                <a:spcPts val="2520"/>
              </a:lnSpc>
              <a:spcBef>
                <a:spcPct val="0"/>
              </a:spcBef>
            </a:pPr>
            <a:r>
              <a:rPr lang="en-US" sz="2100" b="1">
                <a:solidFill>
                  <a:srgbClr val="000000"/>
                </a:solidFill>
                <a:latin typeface="Calibri (MS) Bold"/>
                <a:ea typeface="Calibri (MS) Bold"/>
                <a:cs typeface="Calibri (MS) Bold"/>
                <a:sym typeface="Calibri (MS) Bold"/>
              </a:rPr>
              <a:t>     Heap       Graph      Search</a:t>
            </a:r>
          </a:p>
          <a:p>
            <a:pPr algn="ctr">
              <a:lnSpc>
                <a:spcPts val="2520"/>
              </a:lnSpc>
              <a:spcBef>
                <a:spcPct val="0"/>
              </a:spcBef>
            </a:pPr>
            <a:r>
              <a:rPr lang="en-US" sz="2100" b="1">
                <a:solidFill>
                  <a:srgbClr val="000000"/>
                </a:solidFill>
                <a:latin typeface="Calibri (MS) Bold"/>
                <a:ea typeface="Calibri (MS) Bold"/>
                <a:cs typeface="Calibri (MS) Bold"/>
                <a:sym typeface="Calibri (MS) Bold"/>
              </a:rPr>
              <a:t>   Trending    Clustering   &amp; Sort</a:t>
            </a:r>
          </a:p>
          <a:p>
            <a:pPr algn="ctr">
              <a:lnSpc>
                <a:spcPts val="2520"/>
              </a:lnSpc>
              <a:spcBef>
                <a:spcPct val="0"/>
              </a:spcBef>
            </a:pPr>
            <a:r>
              <a:rPr lang="en-US" sz="2100" b="1">
                <a:solidFill>
                  <a:srgbClr val="000000"/>
                </a:solidFill>
                <a:latin typeface="Calibri (MS) Bold"/>
                <a:ea typeface="Calibri (MS) Bold"/>
                <a:cs typeface="Calibri (MS) Bold"/>
                <a:sym typeface="Calibri (MS) Bold"/>
              </a:rPr>
              <a:t>       ↓          ↓          ↓</a:t>
            </a:r>
          </a:p>
          <a:p>
            <a:pPr algn="ctr">
              <a:lnSpc>
                <a:spcPts val="2520"/>
              </a:lnSpc>
              <a:spcBef>
                <a:spcPct val="0"/>
              </a:spcBef>
            </a:pPr>
            <a:r>
              <a:rPr lang="en-US" sz="2100" b="1">
                <a:solidFill>
                  <a:srgbClr val="000000"/>
                </a:solidFill>
                <a:latin typeface="Calibri (MS) Bold"/>
                <a:ea typeface="Calibri (MS) Bold"/>
                <a:cs typeface="Calibri (MS) Bold"/>
                <a:sym typeface="Calibri (MS) Bold"/>
              </a:rPr>
              <a:t>             └────────────────────┘</a:t>
            </a:r>
          </a:p>
          <a:p>
            <a:pPr algn="ctr">
              <a:lnSpc>
                <a:spcPts val="2520"/>
              </a:lnSpc>
              <a:spcBef>
                <a:spcPct val="0"/>
              </a:spcBef>
            </a:pPr>
            <a:r>
              <a:rPr lang="en-US" sz="2100" b="1">
                <a:solidFill>
                  <a:srgbClr val="000000"/>
                </a:solidFill>
                <a:latin typeface="Calibri (MS) Bold"/>
                <a:ea typeface="Calibri (MS) Bold"/>
                <a:cs typeface="Calibri (MS) Bold"/>
                <a:sym typeface="Calibri (MS) Bold"/>
              </a:rPr>
              <a:t>       ↓</a:t>
            </a:r>
          </a:p>
          <a:p>
            <a:pPr algn="ctr">
              <a:lnSpc>
                <a:spcPts val="2520"/>
              </a:lnSpc>
              <a:spcBef>
                <a:spcPct val="0"/>
              </a:spcBef>
            </a:pPr>
            <a:r>
              <a:rPr lang="en-US" sz="2100" b="1">
                <a:solidFill>
                  <a:srgbClr val="000000"/>
                </a:solidFill>
                <a:latin typeface="Calibri (MS) Bold"/>
                <a:ea typeface="Calibri (MS) Bold"/>
                <a:cs typeface="Calibri (MS) Bold"/>
                <a:sym typeface="Calibri (MS) Bold"/>
              </a:rPr>
              <a:t>          Organized Results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E5D6"/>
        </a:solidFill>
        <a:effectLst/>
      </p:bgPr>
    </p:bg>
    <p:spTree>
      <p:nvGrpSpPr>
        <p:cNvPr id="1" name=""/>
        <p:cNvGrpSpPr/>
        <p:nvPr/>
      </p:nvGrpSpPr>
      <p:grpSpPr>
        <a:xfrm>
          <a:off x="0" y="0"/>
          <a:ext cx="0" cy="0"/>
          <a:chOff x="0" y="0"/>
          <a:chExt cx="0" cy="0"/>
        </a:xfrm>
      </p:grpSpPr>
      <p:grpSp>
        <p:nvGrpSpPr>
          <p:cNvPr id="2" name="Group 2"/>
          <p:cNvGrpSpPr/>
          <p:nvPr/>
        </p:nvGrpSpPr>
        <p:grpSpPr>
          <a:xfrm>
            <a:off x="0" y="66675"/>
            <a:ext cx="3152775" cy="1350169"/>
            <a:chOff x="0" y="0"/>
            <a:chExt cx="4203700" cy="1800225"/>
          </a:xfrm>
        </p:grpSpPr>
        <p:sp>
          <p:nvSpPr>
            <p:cNvPr id="3" name="Freeform 3" descr="KL University Hyderabad"/>
            <p:cNvSpPr/>
            <p:nvPr/>
          </p:nvSpPr>
          <p:spPr>
            <a:xfrm>
              <a:off x="0" y="0"/>
              <a:ext cx="4203700" cy="1800225"/>
            </a:xfrm>
            <a:custGeom>
              <a:avLst/>
              <a:gdLst/>
              <a:ahLst/>
              <a:cxnLst/>
              <a:rect l="l" t="t" r="r" b="b"/>
              <a:pathLst>
                <a:path w="4203700" h="1800225">
                  <a:moveTo>
                    <a:pt x="0" y="0"/>
                  </a:moveTo>
                  <a:lnTo>
                    <a:pt x="4203700" y="0"/>
                  </a:lnTo>
                  <a:lnTo>
                    <a:pt x="4203700" y="1800225"/>
                  </a:lnTo>
                  <a:lnTo>
                    <a:pt x="0" y="1800225"/>
                  </a:lnTo>
                  <a:lnTo>
                    <a:pt x="0" y="0"/>
                  </a:lnTo>
                  <a:close/>
                </a:path>
              </a:pathLst>
            </a:custGeom>
            <a:blipFill>
              <a:blip r:embed="rId2"/>
              <a:stretch>
                <a:fillRect b="-75"/>
              </a:stretch>
            </a:blipFill>
          </p:spPr>
        </p:sp>
      </p:grpSp>
      <p:grpSp>
        <p:nvGrpSpPr>
          <p:cNvPr id="4" name="Group 4"/>
          <p:cNvGrpSpPr/>
          <p:nvPr/>
        </p:nvGrpSpPr>
        <p:grpSpPr>
          <a:xfrm>
            <a:off x="0" y="10217944"/>
            <a:ext cx="18288000" cy="69056"/>
            <a:chOff x="0" y="0"/>
            <a:chExt cx="24384000" cy="92075"/>
          </a:xfrm>
        </p:grpSpPr>
        <p:sp>
          <p:nvSpPr>
            <p:cNvPr id="5" name="Freeform 5"/>
            <p:cNvSpPr/>
            <p:nvPr/>
          </p:nvSpPr>
          <p:spPr>
            <a:xfrm>
              <a:off x="0" y="0"/>
              <a:ext cx="24384000" cy="92075"/>
            </a:xfrm>
            <a:custGeom>
              <a:avLst/>
              <a:gdLst/>
              <a:ahLst/>
              <a:cxnLst/>
              <a:rect l="l" t="t" r="r" b="b"/>
              <a:pathLst>
                <a:path w="24384000" h="92075">
                  <a:moveTo>
                    <a:pt x="0" y="0"/>
                  </a:moveTo>
                  <a:lnTo>
                    <a:pt x="24384000" y="0"/>
                  </a:lnTo>
                  <a:lnTo>
                    <a:pt x="24384000" y="92075"/>
                  </a:lnTo>
                  <a:lnTo>
                    <a:pt x="0" y="92075"/>
                  </a:lnTo>
                  <a:close/>
                </a:path>
              </a:pathLst>
            </a:custGeom>
            <a:solidFill>
              <a:srgbClr val="BA2532"/>
            </a:solidFill>
          </p:spPr>
        </p:sp>
      </p:grpSp>
      <p:grpSp>
        <p:nvGrpSpPr>
          <p:cNvPr id="6" name="Group 6"/>
          <p:cNvGrpSpPr/>
          <p:nvPr/>
        </p:nvGrpSpPr>
        <p:grpSpPr>
          <a:xfrm>
            <a:off x="0" y="0"/>
            <a:ext cx="18288000" cy="69056"/>
            <a:chOff x="0" y="0"/>
            <a:chExt cx="24384000" cy="92075"/>
          </a:xfrm>
        </p:grpSpPr>
        <p:sp>
          <p:nvSpPr>
            <p:cNvPr id="7" name="Freeform 7"/>
            <p:cNvSpPr/>
            <p:nvPr/>
          </p:nvSpPr>
          <p:spPr>
            <a:xfrm>
              <a:off x="0" y="0"/>
              <a:ext cx="24384000" cy="92075"/>
            </a:xfrm>
            <a:custGeom>
              <a:avLst/>
              <a:gdLst/>
              <a:ahLst/>
              <a:cxnLst/>
              <a:rect l="l" t="t" r="r" b="b"/>
              <a:pathLst>
                <a:path w="24384000" h="92075">
                  <a:moveTo>
                    <a:pt x="0" y="0"/>
                  </a:moveTo>
                  <a:lnTo>
                    <a:pt x="24384000" y="0"/>
                  </a:lnTo>
                  <a:lnTo>
                    <a:pt x="24384000" y="92075"/>
                  </a:lnTo>
                  <a:lnTo>
                    <a:pt x="0" y="92075"/>
                  </a:lnTo>
                  <a:close/>
                </a:path>
              </a:pathLst>
            </a:custGeom>
            <a:solidFill>
              <a:srgbClr val="BA2532"/>
            </a:solidFill>
          </p:spPr>
        </p:sp>
      </p:grpSp>
      <p:grpSp>
        <p:nvGrpSpPr>
          <p:cNvPr id="10" name="Group 10"/>
          <p:cNvGrpSpPr/>
          <p:nvPr/>
        </p:nvGrpSpPr>
        <p:grpSpPr>
          <a:xfrm>
            <a:off x="5594642" y="322983"/>
            <a:ext cx="7098725" cy="794899"/>
            <a:chOff x="0" y="0"/>
            <a:chExt cx="9464967" cy="1059866"/>
          </a:xfrm>
        </p:grpSpPr>
        <p:sp>
          <p:nvSpPr>
            <p:cNvPr id="11" name="Freeform 11"/>
            <p:cNvSpPr/>
            <p:nvPr/>
          </p:nvSpPr>
          <p:spPr>
            <a:xfrm>
              <a:off x="0" y="0"/>
              <a:ext cx="9464928" cy="1059942"/>
            </a:xfrm>
            <a:custGeom>
              <a:avLst/>
              <a:gdLst/>
              <a:ahLst/>
              <a:cxnLst/>
              <a:rect l="l" t="t" r="r" b="b"/>
              <a:pathLst>
                <a:path w="9464928" h="1059942">
                  <a:moveTo>
                    <a:pt x="0" y="176657"/>
                  </a:moveTo>
                  <a:cubicBezTo>
                    <a:pt x="0" y="79121"/>
                    <a:pt x="79121" y="0"/>
                    <a:pt x="176657" y="0"/>
                  </a:cubicBezTo>
                  <a:lnTo>
                    <a:pt x="9288272" y="0"/>
                  </a:lnTo>
                  <a:cubicBezTo>
                    <a:pt x="9385808" y="0"/>
                    <a:pt x="9464928" y="79121"/>
                    <a:pt x="9464928" y="176657"/>
                  </a:cubicBezTo>
                  <a:lnTo>
                    <a:pt x="9464928" y="883285"/>
                  </a:lnTo>
                  <a:cubicBezTo>
                    <a:pt x="9464928" y="980821"/>
                    <a:pt x="9385808" y="1059942"/>
                    <a:pt x="9288272" y="1059942"/>
                  </a:cubicBezTo>
                  <a:lnTo>
                    <a:pt x="176657" y="1059942"/>
                  </a:lnTo>
                  <a:cubicBezTo>
                    <a:pt x="79121" y="1059815"/>
                    <a:pt x="0" y="980821"/>
                    <a:pt x="0" y="883285"/>
                  </a:cubicBezTo>
                  <a:close/>
                </a:path>
              </a:pathLst>
            </a:custGeom>
            <a:solidFill>
              <a:srgbClr val="C00000"/>
            </a:solidFill>
            <a:ln w="19050" cap="sq">
              <a:solidFill>
                <a:srgbClr val="172C51"/>
              </a:solidFill>
              <a:prstDash val="solid"/>
              <a:miter/>
            </a:ln>
          </p:spPr>
        </p:sp>
      </p:grpSp>
      <p:sp>
        <p:nvSpPr>
          <p:cNvPr id="12" name="TextBox 12"/>
          <p:cNvSpPr txBox="1"/>
          <p:nvPr/>
        </p:nvSpPr>
        <p:spPr>
          <a:xfrm>
            <a:off x="4081548" y="250946"/>
            <a:ext cx="10124904" cy="871452"/>
          </a:xfrm>
          <a:prstGeom prst="rect">
            <a:avLst/>
          </a:prstGeom>
        </p:spPr>
        <p:txBody>
          <a:bodyPr lIns="0" tIns="0" rIns="0" bIns="0" rtlCol="0" anchor="t">
            <a:spAutoFit/>
          </a:bodyPr>
          <a:lstStyle/>
          <a:p>
            <a:pPr algn="ctr">
              <a:lnSpc>
                <a:spcPts val="5759"/>
              </a:lnSpc>
            </a:pPr>
            <a:r>
              <a:rPr lang="en-US" sz="4800" b="1">
                <a:solidFill>
                  <a:srgbClr val="FFFFFF"/>
                </a:solidFill>
                <a:latin typeface="Calibri (MS) Bold"/>
                <a:ea typeface="Calibri (MS) Bold"/>
                <a:cs typeface="Calibri (MS) Bold"/>
                <a:sym typeface="Calibri (MS) Bold"/>
              </a:rPr>
              <a:t>Results</a:t>
            </a:r>
          </a:p>
        </p:txBody>
      </p:sp>
      <p:sp>
        <p:nvSpPr>
          <p:cNvPr id="13" name="TextBox 13"/>
          <p:cNvSpPr txBox="1"/>
          <p:nvPr/>
        </p:nvSpPr>
        <p:spPr>
          <a:xfrm>
            <a:off x="1532176" y="4714875"/>
            <a:ext cx="14380666" cy="2781300"/>
          </a:xfrm>
          <a:prstGeom prst="rect">
            <a:avLst/>
          </a:prstGeom>
        </p:spPr>
        <p:txBody>
          <a:bodyPr lIns="0" tIns="0" rIns="0" bIns="0" rtlCol="0" anchor="t">
            <a:spAutoFit/>
          </a:bodyPr>
          <a:lstStyle/>
          <a:p>
            <a:pPr marL="777240" lvl="1" indent="-388620" algn="l">
              <a:lnSpc>
                <a:spcPts val="4320"/>
              </a:lnSpc>
              <a:buFont typeface="Arial"/>
              <a:buChar char="•"/>
            </a:pPr>
            <a:r>
              <a:rPr lang="en-US" sz="3600" b="1">
                <a:solidFill>
                  <a:srgbClr val="000000"/>
                </a:solidFill>
                <a:latin typeface="Calibri (MS) Bold"/>
                <a:ea typeface="Calibri (MS) Bold"/>
                <a:cs typeface="Calibri (MS) Bold"/>
                <a:sym typeface="Calibri (MS) Bold"/>
              </a:rPr>
              <a:t>Duplicate posts are successfully identified using hash-based comparison</a:t>
            </a:r>
          </a:p>
          <a:p>
            <a:pPr marL="777240" lvl="1" indent="-388620" algn="l">
              <a:lnSpc>
                <a:spcPts val="4320"/>
              </a:lnSpc>
              <a:buFont typeface="Arial"/>
              <a:buChar char="•"/>
            </a:pPr>
            <a:r>
              <a:rPr lang="en-US" sz="3600" b="1">
                <a:solidFill>
                  <a:srgbClr val="000000"/>
                </a:solidFill>
                <a:latin typeface="Calibri (MS) Bold"/>
                <a:ea typeface="Calibri (MS) Bold"/>
                <a:cs typeface="Calibri (MS) Bold"/>
                <a:sym typeface="Calibri (MS) Bold"/>
              </a:rPr>
              <a:t>Incoming posts are processed sequentially using queues</a:t>
            </a:r>
          </a:p>
          <a:p>
            <a:pPr marL="777240" lvl="1" indent="-388620" algn="l">
              <a:lnSpc>
                <a:spcPts val="4320"/>
              </a:lnSpc>
              <a:buFont typeface="Arial"/>
              <a:buChar char="•"/>
            </a:pPr>
            <a:r>
              <a:rPr lang="en-US" sz="3600" b="1">
                <a:solidFill>
                  <a:srgbClr val="000000"/>
                </a:solidFill>
                <a:latin typeface="Calibri (MS) Bold"/>
                <a:ea typeface="Calibri (MS) Bold"/>
                <a:cs typeface="Calibri (MS) Bold"/>
                <a:sym typeface="Calibri (MS) Bold"/>
              </a:rPr>
              <a:t>Trending stories are ranked using priority-based processing</a:t>
            </a:r>
          </a:p>
          <a:p>
            <a:pPr marL="777240" lvl="1" indent="-388620" algn="l">
              <a:lnSpc>
                <a:spcPts val="4320"/>
              </a:lnSpc>
              <a:buFont typeface="Arial"/>
              <a:buChar char="•"/>
            </a:pPr>
            <a:r>
              <a:rPr lang="en-US" sz="3600" b="1">
                <a:solidFill>
                  <a:srgbClr val="000000"/>
                </a:solidFill>
                <a:latin typeface="Calibri (MS) Bold"/>
                <a:ea typeface="Calibri (MS) Bold"/>
                <a:cs typeface="Calibri (MS) Bold"/>
                <a:sym typeface="Calibri (MS) Bold"/>
              </a:rPr>
              <a:t>Related stories are grouped using graph traversal</a:t>
            </a:r>
          </a:p>
          <a:p>
            <a:pPr marL="777240" lvl="1" indent="-388620" algn="l">
              <a:lnSpc>
                <a:spcPts val="4320"/>
              </a:lnSpc>
              <a:buFont typeface="Arial"/>
              <a:buChar char="•"/>
            </a:pPr>
            <a:r>
              <a:rPr lang="en-US" sz="3600" b="1">
                <a:solidFill>
                  <a:srgbClr val="000000"/>
                </a:solidFill>
                <a:latin typeface="Calibri (MS) Bold"/>
                <a:ea typeface="Calibri (MS) Bold"/>
                <a:cs typeface="Calibri (MS) Bold"/>
                <a:sym typeface="Calibri (MS) Bold"/>
              </a:rPr>
              <a:t>Search and sorting operations return ranked content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E5D6"/>
        </a:solidFill>
        <a:effectLst/>
      </p:bgPr>
    </p:bg>
    <p:spTree>
      <p:nvGrpSpPr>
        <p:cNvPr id="1" name=""/>
        <p:cNvGrpSpPr/>
        <p:nvPr/>
      </p:nvGrpSpPr>
      <p:grpSpPr>
        <a:xfrm>
          <a:off x="0" y="0"/>
          <a:ext cx="0" cy="0"/>
          <a:chOff x="0" y="0"/>
          <a:chExt cx="0" cy="0"/>
        </a:xfrm>
      </p:grpSpPr>
      <p:grpSp>
        <p:nvGrpSpPr>
          <p:cNvPr id="2" name="Group 2"/>
          <p:cNvGrpSpPr/>
          <p:nvPr/>
        </p:nvGrpSpPr>
        <p:grpSpPr>
          <a:xfrm>
            <a:off x="0" y="66675"/>
            <a:ext cx="3152775" cy="1350169"/>
            <a:chOff x="0" y="0"/>
            <a:chExt cx="4203700" cy="1800225"/>
          </a:xfrm>
        </p:grpSpPr>
        <p:sp>
          <p:nvSpPr>
            <p:cNvPr id="3" name="Freeform 3" descr="KL University Hyderabad"/>
            <p:cNvSpPr/>
            <p:nvPr/>
          </p:nvSpPr>
          <p:spPr>
            <a:xfrm>
              <a:off x="0" y="0"/>
              <a:ext cx="4203700" cy="1800225"/>
            </a:xfrm>
            <a:custGeom>
              <a:avLst/>
              <a:gdLst/>
              <a:ahLst/>
              <a:cxnLst/>
              <a:rect l="l" t="t" r="r" b="b"/>
              <a:pathLst>
                <a:path w="4203700" h="1800225">
                  <a:moveTo>
                    <a:pt x="0" y="0"/>
                  </a:moveTo>
                  <a:lnTo>
                    <a:pt x="4203700" y="0"/>
                  </a:lnTo>
                  <a:lnTo>
                    <a:pt x="4203700" y="1800225"/>
                  </a:lnTo>
                  <a:lnTo>
                    <a:pt x="0" y="1800225"/>
                  </a:lnTo>
                  <a:lnTo>
                    <a:pt x="0" y="0"/>
                  </a:lnTo>
                  <a:close/>
                </a:path>
              </a:pathLst>
            </a:custGeom>
            <a:blipFill>
              <a:blip r:embed="rId2"/>
              <a:stretch>
                <a:fillRect b="-75"/>
              </a:stretch>
            </a:blipFill>
          </p:spPr>
        </p:sp>
      </p:grpSp>
      <p:grpSp>
        <p:nvGrpSpPr>
          <p:cNvPr id="4" name="Group 4"/>
          <p:cNvGrpSpPr/>
          <p:nvPr/>
        </p:nvGrpSpPr>
        <p:grpSpPr>
          <a:xfrm>
            <a:off x="0" y="10217944"/>
            <a:ext cx="18288000" cy="69056"/>
            <a:chOff x="0" y="0"/>
            <a:chExt cx="24384000" cy="92075"/>
          </a:xfrm>
        </p:grpSpPr>
        <p:sp>
          <p:nvSpPr>
            <p:cNvPr id="5" name="Freeform 5"/>
            <p:cNvSpPr/>
            <p:nvPr/>
          </p:nvSpPr>
          <p:spPr>
            <a:xfrm>
              <a:off x="0" y="0"/>
              <a:ext cx="24384000" cy="92075"/>
            </a:xfrm>
            <a:custGeom>
              <a:avLst/>
              <a:gdLst/>
              <a:ahLst/>
              <a:cxnLst/>
              <a:rect l="l" t="t" r="r" b="b"/>
              <a:pathLst>
                <a:path w="24384000" h="92075">
                  <a:moveTo>
                    <a:pt x="0" y="0"/>
                  </a:moveTo>
                  <a:lnTo>
                    <a:pt x="24384000" y="0"/>
                  </a:lnTo>
                  <a:lnTo>
                    <a:pt x="24384000" y="92075"/>
                  </a:lnTo>
                  <a:lnTo>
                    <a:pt x="0" y="92075"/>
                  </a:lnTo>
                  <a:close/>
                </a:path>
              </a:pathLst>
            </a:custGeom>
            <a:solidFill>
              <a:srgbClr val="BA2532"/>
            </a:solidFill>
          </p:spPr>
        </p:sp>
      </p:grpSp>
      <p:grpSp>
        <p:nvGrpSpPr>
          <p:cNvPr id="6" name="Group 6"/>
          <p:cNvGrpSpPr/>
          <p:nvPr/>
        </p:nvGrpSpPr>
        <p:grpSpPr>
          <a:xfrm>
            <a:off x="0" y="0"/>
            <a:ext cx="18288000" cy="69056"/>
            <a:chOff x="0" y="0"/>
            <a:chExt cx="24384000" cy="92075"/>
          </a:xfrm>
        </p:grpSpPr>
        <p:sp>
          <p:nvSpPr>
            <p:cNvPr id="7" name="Freeform 7"/>
            <p:cNvSpPr/>
            <p:nvPr/>
          </p:nvSpPr>
          <p:spPr>
            <a:xfrm>
              <a:off x="0" y="0"/>
              <a:ext cx="24384000" cy="92075"/>
            </a:xfrm>
            <a:custGeom>
              <a:avLst/>
              <a:gdLst/>
              <a:ahLst/>
              <a:cxnLst/>
              <a:rect l="l" t="t" r="r" b="b"/>
              <a:pathLst>
                <a:path w="24384000" h="92075">
                  <a:moveTo>
                    <a:pt x="0" y="0"/>
                  </a:moveTo>
                  <a:lnTo>
                    <a:pt x="24384000" y="0"/>
                  </a:lnTo>
                  <a:lnTo>
                    <a:pt x="24384000" y="92075"/>
                  </a:lnTo>
                  <a:lnTo>
                    <a:pt x="0" y="92075"/>
                  </a:lnTo>
                  <a:close/>
                </a:path>
              </a:pathLst>
            </a:custGeom>
            <a:solidFill>
              <a:srgbClr val="BA2532"/>
            </a:solidFill>
          </p:spPr>
        </p:sp>
      </p:grpSp>
      <p:grpSp>
        <p:nvGrpSpPr>
          <p:cNvPr id="10" name="Group 10"/>
          <p:cNvGrpSpPr/>
          <p:nvPr/>
        </p:nvGrpSpPr>
        <p:grpSpPr>
          <a:xfrm>
            <a:off x="5472036" y="383534"/>
            <a:ext cx="9648968" cy="924973"/>
            <a:chOff x="0" y="0"/>
            <a:chExt cx="12865290" cy="1233297"/>
          </a:xfrm>
        </p:grpSpPr>
        <p:sp>
          <p:nvSpPr>
            <p:cNvPr id="11" name="Freeform 11"/>
            <p:cNvSpPr/>
            <p:nvPr/>
          </p:nvSpPr>
          <p:spPr>
            <a:xfrm>
              <a:off x="0" y="0"/>
              <a:ext cx="12865354" cy="1233297"/>
            </a:xfrm>
            <a:custGeom>
              <a:avLst/>
              <a:gdLst/>
              <a:ahLst/>
              <a:cxnLst/>
              <a:rect l="l" t="t" r="r" b="b"/>
              <a:pathLst>
                <a:path w="12865354" h="1233297">
                  <a:moveTo>
                    <a:pt x="0" y="205613"/>
                  </a:moveTo>
                  <a:cubicBezTo>
                    <a:pt x="0" y="92075"/>
                    <a:pt x="92075" y="0"/>
                    <a:pt x="205613" y="0"/>
                  </a:cubicBezTo>
                  <a:lnTo>
                    <a:pt x="12659741" y="0"/>
                  </a:lnTo>
                  <a:cubicBezTo>
                    <a:pt x="12773279" y="0"/>
                    <a:pt x="12865354" y="92075"/>
                    <a:pt x="12865354" y="205613"/>
                  </a:cubicBezTo>
                  <a:lnTo>
                    <a:pt x="12865354" y="1027684"/>
                  </a:lnTo>
                  <a:cubicBezTo>
                    <a:pt x="12865354" y="1141222"/>
                    <a:pt x="12773279" y="1233297"/>
                    <a:pt x="12659741" y="1233297"/>
                  </a:cubicBezTo>
                  <a:lnTo>
                    <a:pt x="205613" y="1233297"/>
                  </a:lnTo>
                  <a:cubicBezTo>
                    <a:pt x="92075" y="1233297"/>
                    <a:pt x="0" y="1141222"/>
                    <a:pt x="0" y="1027684"/>
                  </a:cubicBezTo>
                  <a:close/>
                </a:path>
              </a:pathLst>
            </a:custGeom>
            <a:solidFill>
              <a:srgbClr val="C00000"/>
            </a:solidFill>
            <a:ln w="19050" cap="sq">
              <a:solidFill>
                <a:srgbClr val="172C51"/>
              </a:solidFill>
              <a:prstDash val="solid"/>
              <a:miter/>
            </a:ln>
          </p:spPr>
        </p:sp>
      </p:grpSp>
      <p:graphicFrame>
        <p:nvGraphicFramePr>
          <p:cNvPr id="12" name="Table 12"/>
          <p:cNvGraphicFramePr>
            <a:graphicFrameLocks noGrp="1"/>
          </p:cNvGraphicFramePr>
          <p:nvPr/>
        </p:nvGraphicFramePr>
        <p:xfrm>
          <a:off x="5486400" y="3143473"/>
          <a:ext cx="7178268" cy="4062033"/>
        </p:xfrm>
        <a:graphic>
          <a:graphicData uri="http://schemas.openxmlformats.org/drawingml/2006/table">
            <a:tbl>
              <a:tblPr/>
              <a:tblGrid>
                <a:gridCol w="2773620">
                  <a:extLst>
                    <a:ext uri="{9D8B030D-6E8A-4147-A177-3AD203B41FA5}">
                      <a16:colId xmlns:a16="http://schemas.microsoft.com/office/drawing/2014/main" val="20000"/>
                    </a:ext>
                  </a:extLst>
                </a:gridCol>
                <a:gridCol w="3317755">
                  <a:extLst>
                    <a:ext uri="{9D8B030D-6E8A-4147-A177-3AD203B41FA5}">
                      <a16:colId xmlns:a16="http://schemas.microsoft.com/office/drawing/2014/main" val="20001"/>
                    </a:ext>
                  </a:extLst>
                </a:gridCol>
                <a:gridCol w="1086893">
                  <a:extLst>
                    <a:ext uri="{9D8B030D-6E8A-4147-A177-3AD203B41FA5}">
                      <a16:colId xmlns:a16="http://schemas.microsoft.com/office/drawing/2014/main" val="20002"/>
                    </a:ext>
                  </a:extLst>
                </a:gridCol>
              </a:tblGrid>
              <a:tr h="788445">
                <a:tc>
                  <a:txBody>
                    <a:bodyPr/>
                    <a:lstStyle/>
                    <a:p>
                      <a:pPr algn="l">
                        <a:lnSpc>
                          <a:spcPts val="2239"/>
                        </a:lnSpc>
                        <a:defRPr/>
                      </a:pPr>
                      <a:r>
                        <a:rPr lang="en-US" sz="1599" b="1">
                          <a:solidFill>
                            <a:srgbClr val="000000"/>
                          </a:solidFill>
                          <a:latin typeface="Arimo Bold"/>
                          <a:ea typeface="Arimo Bold"/>
                          <a:cs typeface="Arimo Bold"/>
                          <a:sym typeface="Arimo Bold"/>
                        </a:rPr>
                        <a:t>Hardware Requirements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239"/>
                        </a:lnSpc>
                        <a:defRPr/>
                      </a:pPr>
                      <a:r>
                        <a:rPr lang="en-US" sz="1599">
                          <a:solidFill>
                            <a:srgbClr val="000000"/>
                          </a:solidFill>
                          <a:latin typeface="Canva Sans"/>
                          <a:ea typeface="Canva Sans"/>
                          <a:cs typeface="Canva Sans"/>
                          <a:sym typeface="Canva Sans"/>
                        </a:rPr>
                        <a:t>Software Requirements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b="1">
                          <a:solidFill>
                            <a:srgbClr val="000000"/>
                          </a:solidFill>
                          <a:latin typeface="Calibri (MS) Bold"/>
                          <a:ea typeface="Calibri (MS) Bold"/>
                          <a:cs typeface="Calibri (MS) Bold"/>
                          <a:sym typeface="Calibri (MS) Bold"/>
                        </a:rPr>
                        <a:t>SI NO</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82565">
                <a:tc>
                  <a:txBody>
                    <a:bodyPr/>
                    <a:lstStyle/>
                    <a:p>
                      <a:pPr algn="l">
                        <a:lnSpc>
                          <a:spcPts val="1679"/>
                        </a:lnSpc>
                        <a:defRPr/>
                      </a:pPr>
                      <a:r>
                        <a:rPr lang="en-US" sz="1200">
                          <a:solidFill>
                            <a:srgbClr val="000000"/>
                          </a:solidFill>
                          <a:latin typeface="Canva Sans"/>
                          <a:ea typeface="Canva Sans"/>
                          <a:cs typeface="Canva Sans"/>
                          <a:sym typeface="Canva Sans"/>
                        </a:rPr>
                        <a:t>Processor: Intel i3 / AMD equivalent or higher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1679"/>
                        </a:lnSpc>
                        <a:defRPr/>
                      </a:pPr>
                      <a:r>
                        <a:rPr lang="en-US" sz="1200">
                          <a:solidFill>
                            <a:srgbClr val="000000"/>
                          </a:solidFill>
                          <a:latin typeface="Canva Sans"/>
                          <a:ea typeface="Canva Sans"/>
                          <a:cs typeface="Canva Sans"/>
                          <a:sym typeface="Canva Sans"/>
                        </a:rPr>
                        <a:t>Software Requirements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libri (MS)"/>
                          <a:ea typeface="Calibri (MS)"/>
                          <a:cs typeface="Calibri (MS)"/>
                          <a:sym typeface="Calibri (MS)"/>
                        </a:rPr>
                        <a:t>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01097">
                <a:tc>
                  <a:txBody>
                    <a:bodyPr/>
                    <a:lstStyle/>
                    <a:p>
                      <a:pPr algn="ctr">
                        <a:lnSpc>
                          <a:spcPts val="2520"/>
                        </a:lnSpc>
                        <a:defRPr/>
                      </a:pPr>
                      <a:r>
                        <a:rPr lang="en-US" sz="1800">
                          <a:solidFill>
                            <a:srgbClr val="000000"/>
                          </a:solidFill>
                          <a:latin typeface="Calibri (MS)"/>
                          <a:ea typeface="Calibri (MS)"/>
                          <a:cs typeface="Calibri (MS)"/>
                          <a:sym typeface="Calibri (MS)"/>
                        </a:rPr>
                        <a:t>RAM: 4 GB minimum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1679"/>
                        </a:lnSpc>
                        <a:defRPr/>
                      </a:pPr>
                      <a:r>
                        <a:rPr lang="en-US" sz="1200" b="1">
                          <a:solidFill>
                            <a:srgbClr val="000000"/>
                          </a:solidFill>
                          <a:latin typeface="Arimo Bold"/>
                          <a:ea typeface="Arimo Bold"/>
                          <a:cs typeface="Arimo Bold"/>
                          <a:sym typeface="Arimo Bold"/>
                        </a:rPr>
                        <a:t>Programming Language:</a:t>
                      </a:r>
                      <a:r>
                        <a:rPr lang="en-US" sz="1200">
                          <a:solidFill>
                            <a:srgbClr val="000000"/>
                          </a:solidFill>
                          <a:latin typeface="Arimo"/>
                          <a:ea typeface="Arimo"/>
                          <a:cs typeface="Arimo"/>
                          <a:sym typeface="Arimo"/>
                        </a:rPr>
                        <a:t> Python / Java</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libri (MS)"/>
                          <a:ea typeface="Calibri (MS)"/>
                          <a:cs typeface="Calibri (MS)"/>
                          <a:sym typeface="Calibri (MS)"/>
                        </a:rPr>
                        <a:t>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89926">
                <a:tc>
                  <a:txBody>
                    <a:bodyPr/>
                    <a:lstStyle/>
                    <a:p>
                      <a:pPr algn="l">
                        <a:lnSpc>
                          <a:spcPts val="1679"/>
                        </a:lnSpc>
                        <a:defRPr/>
                      </a:pPr>
                      <a:r>
                        <a:rPr lang="en-US" sz="1200">
                          <a:solidFill>
                            <a:srgbClr val="000000"/>
                          </a:solidFill>
                          <a:latin typeface="Canva Sans"/>
                          <a:ea typeface="Canva Sans"/>
                          <a:cs typeface="Canva Sans"/>
                          <a:sym typeface="Canva Sans"/>
                        </a:rPr>
                        <a:t>Storage: 10 GB available space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1679"/>
                        </a:lnSpc>
                        <a:defRPr/>
                      </a:pPr>
                      <a:r>
                        <a:rPr lang="en-US" sz="1200" b="1">
                          <a:solidFill>
                            <a:srgbClr val="000000"/>
                          </a:solidFill>
                          <a:latin typeface="Arimo Bold"/>
                          <a:ea typeface="Arimo Bold"/>
                          <a:cs typeface="Arimo Bold"/>
                          <a:sym typeface="Arimo Bold"/>
                        </a:rPr>
                        <a:t>Database:</a:t>
                      </a:r>
                      <a:r>
                        <a:rPr lang="en-US" sz="1200">
                          <a:solidFill>
                            <a:srgbClr val="000000"/>
                          </a:solidFill>
                          <a:latin typeface="Arimo"/>
                          <a:ea typeface="Arimo"/>
                          <a:cs typeface="Arimo"/>
                          <a:sym typeface="Arimo"/>
                        </a:rPr>
                        <a:t> MongoDB / MySQL </a:t>
                      </a:r>
                      <a:r>
                        <a:rPr lang="en-US" sz="1200" i="1">
                          <a:solidFill>
                            <a:srgbClr val="000000"/>
                          </a:solidFill>
                          <a:latin typeface="Arimo Italics"/>
                          <a:ea typeface="Arimo Italics"/>
                          <a:cs typeface="Arimo Italics"/>
                          <a:sym typeface="Arimo Italics"/>
                        </a:rPr>
                        <a:t>(if you're actually using one)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libri (MS)"/>
                          <a:ea typeface="Calibri (MS)"/>
                          <a:cs typeface="Calibri (MS)"/>
                          <a:sym typeface="Calibri (MS)"/>
                        </a:rPr>
                        <a:t>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3" name="TextBox 13"/>
          <p:cNvSpPr txBox="1"/>
          <p:nvPr/>
        </p:nvSpPr>
        <p:spPr>
          <a:xfrm>
            <a:off x="5413200" y="413604"/>
            <a:ext cx="10124904" cy="779116"/>
          </a:xfrm>
          <a:prstGeom prst="rect">
            <a:avLst/>
          </a:prstGeom>
        </p:spPr>
        <p:txBody>
          <a:bodyPr lIns="0" tIns="0" rIns="0" bIns="0" rtlCol="0" anchor="t">
            <a:spAutoFit/>
          </a:bodyPr>
          <a:lstStyle/>
          <a:p>
            <a:pPr algn="ctr">
              <a:lnSpc>
                <a:spcPts val="5040"/>
              </a:lnSpc>
            </a:pPr>
            <a:r>
              <a:rPr lang="en-US" sz="4200" b="1">
                <a:solidFill>
                  <a:srgbClr val="FFFFFF"/>
                </a:solidFill>
                <a:latin typeface="Calibri (MS) Bold"/>
                <a:ea typeface="Calibri (MS) Bold"/>
                <a:cs typeface="Calibri (MS) Bold"/>
                <a:sym typeface="Calibri (MS) Bold"/>
              </a:rPr>
              <a:t>Hardware and Software requirements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E5D6"/>
        </a:solidFill>
        <a:effectLst/>
      </p:bgPr>
    </p:bg>
    <p:spTree>
      <p:nvGrpSpPr>
        <p:cNvPr id="1" name=""/>
        <p:cNvGrpSpPr/>
        <p:nvPr/>
      </p:nvGrpSpPr>
      <p:grpSpPr>
        <a:xfrm>
          <a:off x="0" y="0"/>
          <a:ext cx="0" cy="0"/>
          <a:chOff x="0" y="0"/>
          <a:chExt cx="0" cy="0"/>
        </a:xfrm>
      </p:grpSpPr>
      <p:grpSp>
        <p:nvGrpSpPr>
          <p:cNvPr id="2" name="Group 2"/>
          <p:cNvGrpSpPr/>
          <p:nvPr/>
        </p:nvGrpSpPr>
        <p:grpSpPr>
          <a:xfrm>
            <a:off x="0" y="66675"/>
            <a:ext cx="3152775" cy="1350169"/>
            <a:chOff x="0" y="0"/>
            <a:chExt cx="4203700" cy="1800225"/>
          </a:xfrm>
        </p:grpSpPr>
        <p:sp>
          <p:nvSpPr>
            <p:cNvPr id="3" name="Freeform 3" descr="KL University Hyderabad"/>
            <p:cNvSpPr/>
            <p:nvPr/>
          </p:nvSpPr>
          <p:spPr>
            <a:xfrm>
              <a:off x="0" y="0"/>
              <a:ext cx="4203700" cy="1800225"/>
            </a:xfrm>
            <a:custGeom>
              <a:avLst/>
              <a:gdLst/>
              <a:ahLst/>
              <a:cxnLst/>
              <a:rect l="l" t="t" r="r" b="b"/>
              <a:pathLst>
                <a:path w="4203700" h="1800225">
                  <a:moveTo>
                    <a:pt x="0" y="0"/>
                  </a:moveTo>
                  <a:lnTo>
                    <a:pt x="4203700" y="0"/>
                  </a:lnTo>
                  <a:lnTo>
                    <a:pt x="4203700" y="1800225"/>
                  </a:lnTo>
                  <a:lnTo>
                    <a:pt x="0" y="1800225"/>
                  </a:lnTo>
                  <a:lnTo>
                    <a:pt x="0" y="0"/>
                  </a:lnTo>
                  <a:close/>
                </a:path>
              </a:pathLst>
            </a:custGeom>
            <a:blipFill>
              <a:blip r:embed="rId2"/>
              <a:stretch>
                <a:fillRect b="-75"/>
              </a:stretch>
            </a:blipFill>
          </p:spPr>
        </p:sp>
      </p:grpSp>
      <p:grpSp>
        <p:nvGrpSpPr>
          <p:cNvPr id="4" name="Group 4"/>
          <p:cNvGrpSpPr/>
          <p:nvPr/>
        </p:nvGrpSpPr>
        <p:grpSpPr>
          <a:xfrm>
            <a:off x="0" y="10217944"/>
            <a:ext cx="18288000" cy="69056"/>
            <a:chOff x="0" y="0"/>
            <a:chExt cx="24384000" cy="92075"/>
          </a:xfrm>
        </p:grpSpPr>
        <p:sp>
          <p:nvSpPr>
            <p:cNvPr id="5" name="Freeform 5"/>
            <p:cNvSpPr/>
            <p:nvPr/>
          </p:nvSpPr>
          <p:spPr>
            <a:xfrm>
              <a:off x="0" y="0"/>
              <a:ext cx="24384000" cy="92075"/>
            </a:xfrm>
            <a:custGeom>
              <a:avLst/>
              <a:gdLst/>
              <a:ahLst/>
              <a:cxnLst/>
              <a:rect l="l" t="t" r="r" b="b"/>
              <a:pathLst>
                <a:path w="24384000" h="92075">
                  <a:moveTo>
                    <a:pt x="0" y="0"/>
                  </a:moveTo>
                  <a:lnTo>
                    <a:pt x="24384000" y="0"/>
                  </a:lnTo>
                  <a:lnTo>
                    <a:pt x="24384000" y="92075"/>
                  </a:lnTo>
                  <a:lnTo>
                    <a:pt x="0" y="92075"/>
                  </a:lnTo>
                  <a:close/>
                </a:path>
              </a:pathLst>
            </a:custGeom>
            <a:solidFill>
              <a:srgbClr val="BA2532"/>
            </a:solidFill>
          </p:spPr>
        </p:sp>
      </p:grpSp>
      <p:grpSp>
        <p:nvGrpSpPr>
          <p:cNvPr id="6" name="Group 6"/>
          <p:cNvGrpSpPr/>
          <p:nvPr/>
        </p:nvGrpSpPr>
        <p:grpSpPr>
          <a:xfrm>
            <a:off x="0" y="0"/>
            <a:ext cx="18288000" cy="69056"/>
            <a:chOff x="0" y="0"/>
            <a:chExt cx="24384000" cy="92075"/>
          </a:xfrm>
        </p:grpSpPr>
        <p:sp>
          <p:nvSpPr>
            <p:cNvPr id="7" name="Freeform 7"/>
            <p:cNvSpPr/>
            <p:nvPr/>
          </p:nvSpPr>
          <p:spPr>
            <a:xfrm>
              <a:off x="0" y="0"/>
              <a:ext cx="24384000" cy="92075"/>
            </a:xfrm>
            <a:custGeom>
              <a:avLst/>
              <a:gdLst/>
              <a:ahLst/>
              <a:cxnLst/>
              <a:rect l="l" t="t" r="r" b="b"/>
              <a:pathLst>
                <a:path w="24384000" h="92075">
                  <a:moveTo>
                    <a:pt x="0" y="0"/>
                  </a:moveTo>
                  <a:lnTo>
                    <a:pt x="24384000" y="0"/>
                  </a:lnTo>
                  <a:lnTo>
                    <a:pt x="24384000" y="92075"/>
                  </a:lnTo>
                  <a:lnTo>
                    <a:pt x="0" y="92075"/>
                  </a:lnTo>
                  <a:close/>
                </a:path>
              </a:pathLst>
            </a:custGeom>
            <a:solidFill>
              <a:srgbClr val="BA2532"/>
            </a:solidFill>
          </p:spPr>
        </p:sp>
      </p:grpSp>
      <p:grpSp>
        <p:nvGrpSpPr>
          <p:cNvPr id="10" name="Group 10"/>
          <p:cNvGrpSpPr/>
          <p:nvPr/>
        </p:nvGrpSpPr>
        <p:grpSpPr>
          <a:xfrm>
            <a:off x="5594642" y="322983"/>
            <a:ext cx="7098725" cy="794899"/>
            <a:chOff x="0" y="0"/>
            <a:chExt cx="9464967" cy="1059866"/>
          </a:xfrm>
        </p:grpSpPr>
        <p:sp>
          <p:nvSpPr>
            <p:cNvPr id="11" name="Freeform 11"/>
            <p:cNvSpPr/>
            <p:nvPr/>
          </p:nvSpPr>
          <p:spPr>
            <a:xfrm>
              <a:off x="0" y="0"/>
              <a:ext cx="9464928" cy="1059942"/>
            </a:xfrm>
            <a:custGeom>
              <a:avLst/>
              <a:gdLst/>
              <a:ahLst/>
              <a:cxnLst/>
              <a:rect l="l" t="t" r="r" b="b"/>
              <a:pathLst>
                <a:path w="9464928" h="1059942">
                  <a:moveTo>
                    <a:pt x="0" y="176657"/>
                  </a:moveTo>
                  <a:cubicBezTo>
                    <a:pt x="0" y="79121"/>
                    <a:pt x="79121" y="0"/>
                    <a:pt x="176657" y="0"/>
                  </a:cubicBezTo>
                  <a:lnTo>
                    <a:pt x="9288272" y="0"/>
                  </a:lnTo>
                  <a:cubicBezTo>
                    <a:pt x="9385808" y="0"/>
                    <a:pt x="9464928" y="79121"/>
                    <a:pt x="9464928" y="176657"/>
                  </a:cubicBezTo>
                  <a:lnTo>
                    <a:pt x="9464928" y="883285"/>
                  </a:lnTo>
                  <a:cubicBezTo>
                    <a:pt x="9464928" y="980821"/>
                    <a:pt x="9385808" y="1059942"/>
                    <a:pt x="9288272" y="1059942"/>
                  </a:cubicBezTo>
                  <a:lnTo>
                    <a:pt x="176657" y="1059942"/>
                  </a:lnTo>
                  <a:cubicBezTo>
                    <a:pt x="79121" y="1059815"/>
                    <a:pt x="0" y="980821"/>
                    <a:pt x="0" y="883285"/>
                  </a:cubicBezTo>
                  <a:close/>
                </a:path>
              </a:pathLst>
            </a:custGeom>
            <a:solidFill>
              <a:srgbClr val="C00000"/>
            </a:solidFill>
            <a:ln w="19050" cap="sq">
              <a:solidFill>
                <a:srgbClr val="172C51"/>
              </a:solidFill>
              <a:prstDash val="solid"/>
              <a:miter/>
            </a:ln>
          </p:spPr>
        </p:sp>
      </p:grpSp>
      <p:sp>
        <p:nvSpPr>
          <p:cNvPr id="12" name="TextBox 12"/>
          <p:cNvSpPr txBox="1"/>
          <p:nvPr/>
        </p:nvSpPr>
        <p:spPr>
          <a:xfrm>
            <a:off x="4081548" y="241849"/>
            <a:ext cx="10124904" cy="871452"/>
          </a:xfrm>
          <a:prstGeom prst="rect">
            <a:avLst/>
          </a:prstGeom>
        </p:spPr>
        <p:txBody>
          <a:bodyPr lIns="0" tIns="0" rIns="0" bIns="0" rtlCol="0" anchor="t">
            <a:spAutoFit/>
          </a:bodyPr>
          <a:lstStyle/>
          <a:p>
            <a:pPr algn="ctr">
              <a:lnSpc>
                <a:spcPts val="5759"/>
              </a:lnSpc>
            </a:pPr>
            <a:r>
              <a:rPr lang="en-US" sz="4800" b="1">
                <a:solidFill>
                  <a:srgbClr val="FFFFFF"/>
                </a:solidFill>
                <a:latin typeface="Calibri (MS) Bold"/>
                <a:ea typeface="Calibri (MS) Bold"/>
                <a:cs typeface="Calibri (MS) Bold"/>
                <a:sym typeface="Calibri (MS) Bold"/>
              </a:rPr>
              <a:t>Conclusion</a:t>
            </a:r>
          </a:p>
        </p:txBody>
      </p:sp>
      <p:sp>
        <p:nvSpPr>
          <p:cNvPr id="13" name="TextBox 13"/>
          <p:cNvSpPr txBox="1"/>
          <p:nvPr/>
        </p:nvSpPr>
        <p:spPr>
          <a:xfrm>
            <a:off x="799734" y="4705350"/>
            <a:ext cx="15215667" cy="4276725"/>
          </a:xfrm>
          <a:prstGeom prst="rect">
            <a:avLst/>
          </a:prstGeom>
        </p:spPr>
        <p:txBody>
          <a:bodyPr lIns="0" tIns="0" rIns="0" bIns="0" rtlCol="0" anchor="t">
            <a:spAutoFit/>
          </a:bodyPr>
          <a:lstStyle/>
          <a:p>
            <a:pPr marL="863604" lvl="1" indent="-431802" algn="l">
              <a:lnSpc>
                <a:spcPts val="4800"/>
              </a:lnSpc>
              <a:buFont typeface="Arial"/>
              <a:buChar char="•"/>
            </a:pPr>
            <a:r>
              <a:rPr lang="en-US" sz="4000" b="1">
                <a:solidFill>
                  <a:srgbClr val="000000"/>
                </a:solidFill>
                <a:latin typeface="Calibri (MS) Bold"/>
                <a:ea typeface="Calibri (MS) Bold"/>
                <a:cs typeface="Calibri (MS) Bold"/>
                <a:sym typeface="Calibri (MS) Bold"/>
              </a:rPr>
              <a:t>Demonstrates practical applications of Data Structures &amp; Algorithms</a:t>
            </a:r>
          </a:p>
          <a:p>
            <a:pPr marL="863604" lvl="1" indent="-431802" algn="l">
              <a:lnSpc>
                <a:spcPts val="4800"/>
              </a:lnSpc>
              <a:buFont typeface="Arial"/>
              <a:buChar char="•"/>
            </a:pPr>
            <a:r>
              <a:rPr lang="en-US" sz="4000" b="1">
                <a:solidFill>
                  <a:srgbClr val="000000"/>
                </a:solidFill>
                <a:latin typeface="Calibri (MS) Bold"/>
                <a:ea typeface="Calibri (MS) Bold"/>
                <a:cs typeface="Calibri (MS) Bold"/>
                <a:sym typeface="Calibri (MS) Bold"/>
              </a:rPr>
              <a:t>Efficiently organizes large volumes of media content</a:t>
            </a:r>
          </a:p>
          <a:p>
            <a:pPr marL="863604" lvl="1" indent="-431802" algn="l">
              <a:lnSpc>
                <a:spcPts val="4800"/>
              </a:lnSpc>
              <a:buFont typeface="Arial"/>
              <a:buChar char="•"/>
            </a:pPr>
            <a:r>
              <a:rPr lang="en-US" sz="4000" b="1">
                <a:solidFill>
                  <a:srgbClr val="000000"/>
                </a:solidFill>
                <a:latin typeface="Calibri (MS) Bold"/>
                <a:ea typeface="Calibri (MS) Bold"/>
                <a:cs typeface="Calibri (MS) Bold"/>
                <a:sym typeface="Calibri (MS) Bold"/>
              </a:rPr>
              <a:t>Reduces duplicate and redundant information</a:t>
            </a:r>
          </a:p>
          <a:p>
            <a:pPr marL="863604" lvl="1" indent="-431802" algn="l">
              <a:lnSpc>
                <a:spcPts val="4800"/>
              </a:lnSpc>
              <a:buFont typeface="Arial"/>
              <a:buChar char="•"/>
            </a:pPr>
            <a:r>
              <a:rPr lang="en-US" sz="4000" b="1">
                <a:solidFill>
                  <a:srgbClr val="000000"/>
                </a:solidFill>
                <a:latin typeface="Calibri (MS) Bold"/>
                <a:ea typeface="Calibri (MS) Bold"/>
                <a:cs typeface="Calibri (MS) Bold"/>
                <a:sym typeface="Calibri (MS) Bold"/>
              </a:rPr>
              <a:t>Identifies trending and important stories</a:t>
            </a:r>
          </a:p>
          <a:p>
            <a:pPr marL="863604" lvl="1" indent="-431802" algn="l">
              <a:lnSpc>
                <a:spcPts val="4800"/>
              </a:lnSpc>
              <a:buFont typeface="Arial"/>
              <a:buChar char="•"/>
            </a:pPr>
            <a:r>
              <a:rPr lang="en-US" sz="4000" b="1">
                <a:solidFill>
                  <a:srgbClr val="000000"/>
                </a:solidFill>
                <a:latin typeface="Calibri (MS) Bold"/>
                <a:ea typeface="Calibri (MS) Bold"/>
                <a:cs typeface="Calibri (MS) Bold"/>
                <a:sym typeface="Calibri (MS) Bold"/>
              </a:rPr>
              <a:t>Groups related news using graph-based processing</a:t>
            </a:r>
          </a:p>
          <a:p>
            <a:pPr marL="863604" lvl="1" indent="-431802" algn="l">
              <a:lnSpc>
                <a:spcPts val="4800"/>
              </a:lnSpc>
              <a:buFont typeface="Arial"/>
              <a:buChar char="•"/>
            </a:pPr>
            <a:r>
              <a:rPr lang="en-US" sz="4000" b="1">
                <a:solidFill>
                  <a:srgbClr val="000000"/>
                </a:solidFill>
                <a:latin typeface="Calibri (MS) Bold"/>
                <a:ea typeface="Calibri (MS) Bold"/>
                <a:cs typeface="Calibri (MS) Bold"/>
                <a:sym typeface="Calibri (MS) Bold"/>
              </a:rPr>
              <a:t>Supports efficient searching, sorting and prioritization</a:t>
            </a:r>
          </a:p>
          <a:p>
            <a:pPr algn="ctr">
              <a:lnSpc>
                <a:spcPts val="4320"/>
              </a:lnSpc>
              <a:spcBef>
                <a:spcPct val="0"/>
              </a:spcBef>
            </a:pPr>
            <a:endParaRPr lang="en-US" sz="4000" b="1">
              <a:solidFill>
                <a:srgbClr val="000000"/>
              </a:solidFill>
              <a:latin typeface="Calibri (MS) Bold"/>
              <a:ea typeface="Calibri (MS) Bold"/>
              <a:cs typeface="Calibri (MS) Bold"/>
              <a:sym typeface="Calibri (MS)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E5D6"/>
        </a:solidFill>
        <a:effectLst/>
      </p:bgPr>
    </p:bg>
    <p:spTree>
      <p:nvGrpSpPr>
        <p:cNvPr id="1" name=""/>
        <p:cNvGrpSpPr/>
        <p:nvPr/>
      </p:nvGrpSpPr>
      <p:grpSpPr>
        <a:xfrm>
          <a:off x="0" y="0"/>
          <a:ext cx="0" cy="0"/>
          <a:chOff x="0" y="0"/>
          <a:chExt cx="0" cy="0"/>
        </a:xfrm>
      </p:grpSpPr>
      <p:grpSp>
        <p:nvGrpSpPr>
          <p:cNvPr id="2" name="Group 2"/>
          <p:cNvGrpSpPr/>
          <p:nvPr/>
        </p:nvGrpSpPr>
        <p:grpSpPr>
          <a:xfrm>
            <a:off x="0" y="66675"/>
            <a:ext cx="3152775" cy="1350169"/>
            <a:chOff x="0" y="0"/>
            <a:chExt cx="4203700" cy="1800225"/>
          </a:xfrm>
        </p:grpSpPr>
        <p:sp>
          <p:nvSpPr>
            <p:cNvPr id="3" name="Freeform 3" descr="KL University Hyderabad"/>
            <p:cNvSpPr/>
            <p:nvPr/>
          </p:nvSpPr>
          <p:spPr>
            <a:xfrm>
              <a:off x="0" y="0"/>
              <a:ext cx="4203700" cy="1800225"/>
            </a:xfrm>
            <a:custGeom>
              <a:avLst/>
              <a:gdLst/>
              <a:ahLst/>
              <a:cxnLst/>
              <a:rect l="l" t="t" r="r" b="b"/>
              <a:pathLst>
                <a:path w="4203700" h="1800225">
                  <a:moveTo>
                    <a:pt x="0" y="0"/>
                  </a:moveTo>
                  <a:lnTo>
                    <a:pt x="4203700" y="0"/>
                  </a:lnTo>
                  <a:lnTo>
                    <a:pt x="4203700" y="1800225"/>
                  </a:lnTo>
                  <a:lnTo>
                    <a:pt x="0" y="1800225"/>
                  </a:lnTo>
                  <a:lnTo>
                    <a:pt x="0" y="0"/>
                  </a:lnTo>
                  <a:close/>
                </a:path>
              </a:pathLst>
            </a:custGeom>
            <a:blipFill>
              <a:blip r:embed="rId2"/>
              <a:stretch>
                <a:fillRect b="-75"/>
              </a:stretch>
            </a:blipFill>
          </p:spPr>
        </p:sp>
      </p:grpSp>
      <p:grpSp>
        <p:nvGrpSpPr>
          <p:cNvPr id="4" name="Group 4"/>
          <p:cNvGrpSpPr/>
          <p:nvPr/>
        </p:nvGrpSpPr>
        <p:grpSpPr>
          <a:xfrm>
            <a:off x="0" y="10217944"/>
            <a:ext cx="18288000" cy="69056"/>
            <a:chOff x="0" y="0"/>
            <a:chExt cx="24384000" cy="92075"/>
          </a:xfrm>
        </p:grpSpPr>
        <p:sp>
          <p:nvSpPr>
            <p:cNvPr id="5" name="Freeform 5"/>
            <p:cNvSpPr/>
            <p:nvPr/>
          </p:nvSpPr>
          <p:spPr>
            <a:xfrm>
              <a:off x="0" y="0"/>
              <a:ext cx="24384000" cy="92075"/>
            </a:xfrm>
            <a:custGeom>
              <a:avLst/>
              <a:gdLst/>
              <a:ahLst/>
              <a:cxnLst/>
              <a:rect l="l" t="t" r="r" b="b"/>
              <a:pathLst>
                <a:path w="24384000" h="92075">
                  <a:moveTo>
                    <a:pt x="0" y="0"/>
                  </a:moveTo>
                  <a:lnTo>
                    <a:pt x="24384000" y="0"/>
                  </a:lnTo>
                  <a:lnTo>
                    <a:pt x="24384000" y="92075"/>
                  </a:lnTo>
                  <a:lnTo>
                    <a:pt x="0" y="92075"/>
                  </a:lnTo>
                  <a:close/>
                </a:path>
              </a:pathLst>
            </a:custGeom>
            <a:solidFill>
              <a:srgbClr val="BA2532"/>
            </a:solidFill>
          </p:spPr>
        </p:sp>
      </p:grpSp>
      <p:grpSp>
        <p:nvGrpSpPr>
          <p:cNvPr id="6" name="Group 6"/>
          <p:cNvGrpSpPr/>
          <p:nvPr/>
        </p:nvGrpSpPr>
        <p:grpSpPr>
          <a:xfrm>
            <a:off x="0" y="0"/>
            <a:ext cx="18288000" cy="69056"/>
            <a:chOff x="0" y="0"/>
            <a:chExt cx="24384000" cy="92075"/>
          </a:xfrm>
        </p:grpSpPr>
        <p:sp>
          <p:nvSpPr>
            <p:cNvPr id="7" name="Freeform 7"/>
            <p:cNvSpPr/>
            <p:nvPr/>
          </p:nvSpPr>
          <p:spPr>
            <a:xfrm>
              <a:off x="0" y="0"/>
              <a:ext cx="24384000" cy="92075"/>
            </a:xfrm>
            <a:custGeom>
              <a:avLst/>
              <a:gdLst/>
              <a:ahLst/>
              <a:cxnLst/>
              <a:rect l="l" t="t" r="r" b="b"/>
              <a:pathLst>
                <a:path w="24384000" h="92075">
                  <a:moveTo>
                    <a:pt x="0" y="0"/>
                  </a:moveTo>
                  <a:lnTo>
                    <a:pt x="24384000" y="0"/>
                  </a:lnTo>
                  <a:lnTo>
                    <a:pt x="24384000" y="92075"/>
                  </a:lnTo>
                  <a:lnTo>
                    <a:pt x="0" y="92075"/>
                  </a:lnTo>
                  <a:close/>
                </a:path>
              </a:pathLst>
            </a:custGeom>
            <a:solidFill>
              <a:srgbClr val="BA2532"/>
            </a:solidFill>
          </p:spPr>
        </p:sp>
      </p:grpSp>
      <p:grpSp>
        <p:nvGrpSpPr>
          <p:cNvPr id="10" name="Group 10"/>
          <p:cNvGrpSpPr/>
          <p:nvPr/>
        </p:nvGrpSpPr>
        <p:grpSpPr>
          <a:xfrm>
            <a:off x="5594642" y="322983"/>
            <a:ext cx="7098725" cy="794899"/>
            <a:chOff x="0" y="0"/>
            <a:chExt cx="9464967" cy="1059866"/>
          </a:xfrm>
        </p:grpSpPr>
        <p:sp>
          <p:nvSpPr>
            <p:cNvPr id="11" name="Freeform 11"/>
            <p:cNvSpPr/>
            <p:nvPr/>
          </p:nvSpPr>
          <p:spPr>
            <a:xfrm>
              <a:off x="0" y="0"/>
              <a:ext cx="9464928" cy="1059942"/>
            </a:xfrm>
            <a:custGeom>
              <a:avLst/>
              <a:gdLst/>
              <a:ahLst/>
              <a:cxnLst/>
              <a:rect l="l" t="t" r="r" b="b"/>
              <a:pathLst>
                <a:path w="9464928" h="1059942">
                  <a:moveTo>
                    <a:pt x="0" y="176657"/>
                  </a:moveTo>
                  <a:cubicBezTo>
                    <a:pt x="0" y="79121"/>
                    <a:pt x="79121" y="0"/>
                    <a:pt x="176657" y="0"/>
                  </a:cubicBezTo>
                  <a:lnTo>
                    <a:pt x="9288272" y="0"/>
                  </a:lnTo>
                  <a:cubicBezTo>
                    <a:pt x="9385808" y="0"/>
                    <a:pt x="9464928" y="79121"/>
                    <a:pt x="9464928" y="176657"/>
                  </a:cubicBezTo>
                  <a:lnTo>
                    <a:pt x="9464928" y="883285"/>
                  </a:lnTo>
                  <a:cubicBezTo>
                    <a:pt x="9464928" y="980821"/>
                    <a:pt x="9385808" y="1059942"/>
                    <a:pt x="9288272" y="1059942"/>
                  </a:cubicBezTo>
                  <a:lnTo>
                    <a:pt x="176657" y="1059942"/>
                  </a:lnTo>
                  <a:cubicBezTo>
                    <a:pt x="79121" y="1059815"/>
                    <a:pt x="0" y="980821"/>
                    <a:pt x="0" y="883285"/>
                  </a:cubicBezTo>
                  <a:close/>
                </a:path>
              </a:pathLst>
            </a:custGeom>
            <a:solidFill>
              <a:srgbClr val="C00000"/>
            </a:solidFill>
            <a:ln w="19050" cap="sq">
              <a:solidFill>
                <a:srgbClr val="172C51"/>
              </a:solidFill>
              <a:prstDash val="solid"/>
              <a:miter/>
            </a:ln>
          </p:spPr>
        </p:sp>
      </p:grpSp>
      <p:sp>
        <p:nvSpPr>
          <p:cNvPr id="12" name="TextBox 12"/>
          <p:cNvSpPr txBox="1"/>
          <p:nvPr/>
        </p:nvSpPr>
        <p:spPr>
          <a:xfrm>
            <a:off x="4081548" y="191195"/>
            <a:ext cx="10124904" cy="871452"/>
          </a:xfrm>
          <a:prstGeom prst="rect">
            <a:avLst/>
          </a:prstGeom>
        </p:spPr>
        <p:txBody>
          <a:bodyPr lIns="0" tIns="0" rIns="0" bIns="0" rtlCol="0" anchor="t">
            <a:spAutoFit/>
          </a:bodyPr>
          <a:lstStyle/>
          <a:p>
            <a:pPr algn="ctr">
              <a:lnSpc>
                <a:spcPts val="5759"/>
              </a:lnSpc>
            </a:pPr>
            <a:r>
              <a:rPr lang="en-US" sz="4800" b="1">
                <a:solidFill>
                  <a:srgbClr val="FFFFFF"/>
                </a:solidFill>
                <a:latin typeface="Calibri (MS) Bold"/>
                <a:ea typeface="Calibri (MS) Bold"/>
                <a:cs typeface="Calibri (MS) Bold"/>
                <a:sym typeface="Calibri (MS) Bold"/>
              </a:rPr>
              <a:t> Future Scope</a:t>
            </a:r>
          </a:p>
        </p:txBody>
      </p:sp>
      <p:sp>
        <p:nvSpPr>
          <p:cNvPr id="13" name="TextBox 13"/>
          <p:cNvSpPr txBox="1"/>
          <p:nvPr/>
        </p:nvSpPr>
        <p:spPr>
          <a:xfrm>
            <a:off x="3015625" y="4285032"/>
            <a:ext cx="12119818" cy="4429125"/>
          </a:xfrm>
          <a:prstGeom prst="rect">
            <a:avLst/>
          </a:prstGeom>
        </p:spPr>
        <p:txBody>
          <a:bodyPr lIns="0" tIns="0" rIns="0" bIns="0" rtlCol="0" anchor="t">
            <a:spAutoFit/>
          </a:bodyPr>
          <a:lstStyle/>
          <a:p>
            <a:pPr marL="1036320" lvl="1" indent="-518160" algn="l">
              <a:lnSpc>
                <a:spcPts val="5759"/>
              </a:lnSpc>
              <a:buFont typeface="Arial"/>
              <a:buChar char="•"/>
            </a:pPr>
            <a:r>
              <a:rPr lang="en-US" sz="4800" b="1" dirty="0">
                <a:solidFill>
                  <a:srgbClr val="000000"/>
                </a:solidFill>
                <a:latin typeface="Calibri (MS) Bold"/>
                <a:ea typeface="Calibri (MS) Bold"/>
                <a:cs typeface="Calibri (MS) Bold"/>
                <a:sym typeface="Calibri (MS) Bold"/>
              </a:rPr>
              <a:t>🤖 AI-based sentiment analysis</a:t>
            </a:r>
          </a:p>
          <a:p>
            <a:pPr marL="1036320" lvl="1" indent="-518160" algn="l">
              <a:lnSpc>
                <a:spcPts val="5759"/>
              </a:lnSpc>
              <a:buFont typeface="Arial"/>
              <a:buChar char="•"/>
            </a:pPr>
            <a:r>
              <a:rPr lang="en-US" sz="4800" b="1" dirty="0">
                <a:solidFill>
                  <a:srgbClr val="000000"/>
                </a:solidFill>
                <a:latin typeface="Calibri (MS) Bold"/>
                <a:ea typeface="Calibri (MS) Bold"/>
                <a:cs typeface="Calibri (MS) Bold"/>
                <a:sym typeface="Calibri (MS) Bold"/>
              </a:rPr>
              <a:t>📰 Fake news detection</a:t>
            </a:r>
          </a:p>
          <a:p>
            <a:pPr marL="1036320" lvl="1" indent="-518160" algn="l">
              <a:lnSpc>
                <a:spcPts val="5759"/>
              </a:lnSpc>
              <a:buFont typeface="Arial"/>
              <a:buChar char="•"/>
            </a:pPr>
            <a:r>
              <a:rPr lang="en-US" sz="4800" b="1" dirty="0">
                <a:solidFill>
                  <a:srgbClr val="000000"/>
                </a:solidFill>
                <a:latin typeface="Calibri (MS) Bold"/>
                <a:ea typeface="Calibri (MS) Bold"/>
                <a:cs typeface="Calibri (MS) Bold"/>
                <a:sym typeface="Calibri (MS) Bold"/>
              </a:rPr>
              <a:t>🔎 Advanced NLP-based similarity detection</a:t>
            </a:r>
          </a:p>
          <a:p>
            <a:pPr marL="1036320" lvl="1" indent="-518160" algn="l">
              <a:lnSpc>
                <a:spcPts val="5759"/>
              </a:lnSpc>
              <a:buFont typeface="Arial"/>
              <a:buChar char="•"/>
            </a:pPr>
            <a:r>
              <a:rPr lang="en-US" sz="4800" b="1" dirty="0">
                <a:solidFill>
                  <a:srgbClr val="000000"/>
                </a:solidFill>
                <a:latin typeface="Calibri (MS) Bold"/>
                <a:ea typeface="Calibri (MS) Bold"/>
                <a:cs typeface="Calibri (MS) Bold"/>
                <a:sym typeface="Calibri (MS) Bold"/>
              </a:rPr>
              <a:t>📱 Real-time social media API integration</a:t>
            </a:r>
          </a:p>
          <a:p>
            <a:pPr marL="1036320" lvl="1" indent="-518160" algn="l">
              <a:lnSpc>
                <a:spcPts val="5759"/>
              </a:lnSpc>
              <a:buFont typeface="Arial"/>
              <a:buChar char="•"/>
            </a:pPr>
            <a:r>
              <a:rPr lang="en-US" sz="4800" b="1" dirty="0">
                <a:solidFill>
                  <a:srgbClr val="000000"/>
                </a:solidFill>
                <a:latin typeface="Calibri (MS) Bold"/>
                <a:ea typeface="Calibri (MS) Bold"/>
                <a:cs typeface="Calibri (MS) Bold"/>
                <a:sym typeface="Calibri (MS) Bold"/>
              </a:rPr>
              <a:t>🎯 Personalized news recommendations</a:t>
            </a:r>
          </a:p>
          <a:p>
            <a:pPr marL="1036320" lvl="1" indent="-518160" algn="l">
              <a:lnSpc>
                <a:spcPts val="5759"/>
              </a:lnSpc>
              <a:buFont typeface="Arial"/>
              <a:buChar char="•"/>
            </a:pPr>
            <a:r>
              <a:rPr lang="en-US" sz="4800" b="1" dirty="0">
                <a:solidFill>
                  <a:srgbClr val="000000"/>
                </a:solidFill>
                <a:latin typeface="Calibri (MS) Bold"/>
                <a:ea typeface="Calibri (MS) Bold"/>
                <a:cs typeface="Calibri (MS) Bold"/>
                <a:sym typeface="Calibri (MS) Bold"/>
              </a:rPr>
              <a:t>🌐 Real-time trend detection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E5D6"/>
        </a:solidFill>
        <a:effectLst/>
      </p:bgPr>
    </p:bg>
    <p:spTree>
      <p:nvGrpSpPr>
        <p:cNvPr id="1" name=""/>
        <p:cNvGrpSpPr/>
        <p:nvPr/>
      </p:nvGrpSpPr>
      <p:grpSpPr>
        <a:xfrm>
          <a:off x="0" y="0"/>
          <a:ext cx="0" cy="0"/>
          <a:chOff x="0" y="0"/>
          <a:chExt cx="0" cy="0"/>
        </a:xfrm>
      </p:grpSpPr>
      <p:grpSp>
        <p:nvGrpSpPr>
          <p:cNvPr id="2" name="Group 2"/>
          <p:cNvGrpSpPr/>
          <p:nvPr/>
        </p:nvGrpSpPr>
        <p:grpSpPr>
          <a:xfrm>
            <a:off x="0" y="66675"/>
            <a:ext cx="3152775" cy="1350169"/>
            <a:chOff x="0" y="0"/>
            <a:chExt cx="4203700" cy="1800225"/>
          </a:xfrm>
        </p:grpSpPr>
        <p:sp>
          <p:nvSpPr>
            <p:cNvPr id="3" name="Freeform 3" descr="KL University Hyderabad"/>
            <p:cNvSpPr/>
            <p:nvPr/>
          </p:nvSpPr>
          <p:spPr>
            <a:xfrm>
              <a:off x="0" y="0"/>
              <a:ext cx="4203700" cy="1800225"/>
            </a:xfrm>
            <a:custGeom>
              <a:avLst/>
              <a:gdLst/>
              <a:ahLst/>
              <a:cxnLst/>
              <a:rect l="l" t="t" r="r" b="b"/>
              <a:pathLst>
                <a:path w="4203700" h="1800225">
                  <a:moveTo>
                    <a:pt x="0" y="0"/>
                  </a:moveTo>
                  <a:lnTo>
                    <a:pt x="4203700" y="0"/>
                  </a:lnTo>
                  <a:lnTo>
                    <a:pt x="4203700" y="1800225"/>
                  </a:lnTo>
                  <a:lnTo>
                    <a:pt x="0" y="1800225"/>
                  </a:lnTo>
                  <a:lnTo>
                    <a:pt x="0" y="0"/>
                  </a:lnTo>
                  <a:close/>
                </a:path>
              </a:pathLst>
            </a:custGeom>
            <a:blipFill>
              <a:blip r:embed="rId2"/>
              <a:stretch>
                <a:fillRect b="-75"/>
              </a:stretch>
            </a:blipFill>
          </p:spPr>
        </p:sp>
      </p:grpSp>
      <p:grpSp>
        <p:nvGrpSpPr>
          <p:cNvPr id="4" name="Group 4"/>
          <p:cNvGrpSpPr/>
          <p:nvPr/>
        </p:nvGrpSpPr>
        <p:grpSpPr>
          <a:xfrm>
            <a:off x="0" y="10217944"/>
            <a:ext cx="18288000" cy="69056"/>
            <a:chOff x="0" y="0"/>
            <a:chExt cx="24384000" cy="92075"/>
          </a:xfrm>
        </p:grpSpPr>
        <p:sp>
          <p:nvSpPr>
            <p:cNvPr id="5" name="Freeform 5"/>
            <p:cNvSpPr/>
            <p:nvPr/>
          </p:nvSpPr>
          <p:spPr>
            <a:xfrm>
              <a:off x="0" y="0"/>
              <a:ext cx="24384000" cy="92075"/>
            </a:xfrm>
            <a:custGeom>
              <a:avLst/>
              <a:gdLst/>
              <a:ahLst/>
              <a:cxnLst/>
              <a:rect l="l" t="t" r="r" b="b"/>
              <a:pathLst>
                <a:path w="24384000" h="92075">
                  <a:moveTo>
                    <a:pt x="0" y="0"/>
                  </a:moveTo>
                  <a:lnTo>
                    <a:pt x="24384000" y="0"/>
                  </a:lnTo>
                  <a:lnTo>
                    <a:pt x="24384000" y="92075"/>
                  </a:lnTo>
                  <a:lnTo>
                    <a:pt x="0" y="92075"/>
                  </a:lnTo>
                  <a:close/>
                </a:path>
              </a:pathLst>
            </a:custGeom>
            <a:solidFill>
              <a:srgbClr val="BA2532"/>
            </a:solidFill>
          </p:spPr>
        </p:sp>
      </p:grpSp>
      <p:grpSp>
        <p:nvGrpSpPr>
          <p:cNvPr id="6" name="Group 6"/>
          <p:cNvGrpSpPr/>
          <p:nvPr/>
        </p:nvGrpSpPr>
        <p:grpSpPr>
          <a:xfrm>
            <a:off x="0" y="0"/>
            <a:ext cx="18288000" cy="69056"/>
            <a:chOff x="0" y="0"/>
            <a:chExt cx="24384000" cy="92075"/>
          </a:xfrm>
        </p:grpSpPr>
        <p:sp>
          <p:nvSpPr>
            <p:cNvPr id="7" name="Freeform 7"/>
            <p:cNvSpPr/>
            <p:nvPr/>
          </p:nvSpPr>
          <p:spPr>
            <a:xfrm>
              <a:off x="0" y="0"/>
              <a:ext cx="24384000" cy="92075"/>
            </a:xfrm>
            <a:custGeom>
              <a:avLst/>
              <a:gdLst/>
              <a:ahLst/>
              <a:cxnLst/>
              <a:rect l="l" t="t" r="r" b="b"/>
              <a:pathLst>
                <a:path w="24384000" h="92075">
                  <a:moveTo>
                    <a:pt x="0" y="0"/>
                  </a:moveTo>
                  <a:lnTo>
                    <a:pt x="24384000" y="0"/>
                  </a:lnTo>
                  <a:lnTo>
                    <a:pt x="24384000" y="92075"/>
                  </a:lnTo>
                  <a:lnTo>
                    <a:pt x="0" y="92075"/>
                  </a:lnTo>
                  <a:close/>
                </a:path>
              </a:pathLst>
            </a:custGeom>
            <a:solidFill>
              <a:srgbClr val="BA2532"/>
            </a:solidFill>
          </p:spPr>
        </p:sp>
      </p:grpSp>
      <p:grpSp>
        <p:nvGrpSpPr>
          <p:cNvPr id="10" name="Group 10"/>
          <p:cNvGrpSpPr/>
          <p:nvPr/>
        </p:nvGrpSpPr>
        <p:grpSpPr>
          <a:xfrm>
            <a:off x="5594633" y="3919538"/>
            <a:ext cx="7438425" cy="2055781"/>
            <a:chOff x="0" y="0"/>
            <a:chExt cx="9917900" cy="2741041"/>
          </a:xfrm>
        </p:grpSpPr>
        <p:sp>
          <p:nvSpPr>
            <p:cNvPr id="11" name="Freeform 11"/>
            <p:cNvSpPr/>
            <p:nvPr/>
          </p:nvSpPr>
          <p:spPr>
            <a:xfrm>
              <a:off x="0" y="0"/>
              <a:ext cx="9917938" cy="2741041"/>
            </a:xfrm>
            <a:custGeom>
              <a:avLst/>
              <a:gdLst/>
              <a:ahLst/>
              <a:cxnLst/>
              <a:rect l="l" t="t" r="r" b="b"/>
              <a:pathLst>
                <a:path w="9917938" h="2741041">
                  <a:moveTo>
                    <a:pt x="0" y="456819"/>
                  </a:moveTo>
                  <a:cubicBezTo>
                    <a:pt x="0" y="204597"/>
                    <a:pt x="204597" y="0"/>
                    <a:pt x="456819" y="0"/>
                  </a:cubicBezTo>
                  <a:lnTo>
                    <a:pt x="9461119" y="0"/>
                  </a:lnTo>
                  <a:cubicBezTo>
                    <a:pt x="9713468" y="0"/>
                    <a:pt x="9917938" y="204597"/>
                    <a:pt x="9917938" y="456819"/>
                  </a:cubicBezTo>
                  <a:lnTo>
                    <a:pt x="9917938" y="2284222"/>
                  </a:lnTo>
                  <a:cubicBezTo>
                    <a:pt x="9917938" y="2536571"/>
                    <a:pt x="9713340" y="2741041"/>
                    <a:pt x="9461119" y="2741041"/>
                  </a:cubicBezTo>
                  <a:lnTo>
                    <a:pt x="456819" y="2741041"/>
                  </a:lnTo>
                  <a:cubicBezTo>
                    <a:pt x="204597" y="2741041"/>
                    <a:pt x="0" y="2536444"/>
                    <a:pt x="0" y="2284222"/>
                  </a:cubicBezTo>
                  <a:close/>
                </a:path>
              </a:pathLst>
            </a:custGeom>
            <a:solidFill>
              <a:srgbClr val="C00000"/>
            </a:solidFill>
            <a:ln w="19050" cap="sq">
              <a:solidFill>
                <a:srgbClr val="172C51"/>
              </a:solidFill>
              <a:prstDash val="solid"/>
              <a:miter/>
            </a:ln>
          </p:spPr>
        </p:sp>
        <p:sp>
          <p:nvSpPr>
            <p:cNvPr id="12" name="TextBox 12"/>
            <p:cNvSpPr txBox="1"/>
            <p:nvPr/>
          </p:nvSpPr>
          <p:spPr>
            <a:xfrm>
              <a:off x="0" y="-85725"/>
              <a:ext cx="9917900" cy="2826766"/>
            </a:xfrm>
            <a:prstGeom prst="rect">
              <a:avLst/>
            </a:prstGeom>
          </p:spPr>
          <p:txBody>
            <a:bodyPr lIns="50800" tIns="50800" rIns="50800" bIns="50800" rtlCol="0" anchor="ctr"/>
            <a:lstStyle/>
            <a:p>
              <a:pPr algn="ctr">
                <a:lnSpc>
                  <a:spcPts val="5759"/>
                </a:lnSpc>
              </a:pPr>
              <a:r>
                <a:rPr lang="en-US" sz="4800" b="1">
                  <a:solidFill>
                    <a:srgbClr val="FFFFFF"/>
                  </a:solidFill>
                  <a:latin typeface="Calibri (MS) Bold"/>
                  <a:ea typeface="Calibri (MS) Bold"/>
                  <a:cs typeface="Calibri (MS) Bold"/>
                  <a:sym typeface="Calibri (MS) Bold"/>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677</Words>
  <Application>Microsoft Office PowerPoint</Application>
  <PresentationFormat>Custom</PresentationFormat>
  <Paragraphs>107</Paragraphs>
  <Slides>11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Arimo Italics</vt:lpstr>
      <vt:lpstr>Times New Roman</vt:lpstr>
      <vt:lpstr>Arimo</vt:lpstr>
      <vt:lpstr>Calibri (MS)</vt:lpstr>
      <vt:lpstr>Canva Sans</vt:lpstr>
      <vt:lpstr>Arimo Bold</vt:lpstr>
      <vt:lpstr>Calibri (MS) Bold</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DSA-3_Project PPT.pptx</dc:title>
  <cp:lastModifiedBy>NIKHIL KRISHNA</cp:lastModifiedBy>
  <cp:revision>2</cp:revision>
  <dcterms:created xsi:type="dcterms:W3CDTF">2006-08-16T00:00:00Z</dcterms:created>
  <dcterms:modified xsi:type="dcterms:W3CDTF">2026-08-27T03:08:22Z</dcterms:modified>
  <dc:identifier>DAHTYGdJjug</dc:identifier>
</cp:coreProperties>
</file>